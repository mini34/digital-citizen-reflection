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b986685ebe43e0" /><Relationship Type="http://schemas.openxmlformats.org/officeDocument/2006/relationships/extended-properties" Target="/docProps/app.xml" Id="R9e66afecd66046cf" /><Relationship Type="http://schemas.openxmlformats.org/officeDocument/2006/relationships/officeDocument" Target="/ppt/presentation.xml" Id="R21a7bf02236e4c17" /></Relationships>
</file>

<file path=ppt/presentation.xml><?xml version="1.0" encoding="utf-8"?>
<p:presentation xmlns:p="http://schemas.openxmlformats.org/presentationml/2006/main">
  <p:sldMasterIdLst>
    <p:sldMasterId xmlns:r="http://schemas.openxmlformats.org/officeDocument/2006/relationships" id="2147483648" r:id="Rf5b3ba435b9e4f45"/>
  </p:sldMasterIdLst>
  <p:notesMasterIdLst>
    <p:notesMasterId xmlns:r="http://schemas.openxmlformats.org/officeDocument/2006/relationships" r:id="R2adcded18838455e"/>
  </p:notesMasterIdLst>
  <p:sldIdLst>
    <p:sldId xmlns:r="http://schemas.openxmlformats.org/officeDocument/2006/relationships" id="256" r:id="Ra55a4cbe4368426d"/>
    <p:sldId xmlns:r="http://schemas.openxmlformats.org/officeDocument/2006/relationships" id="257" r:id="R95c75de66c474783"/>
    <p:sldId xmlns:r="http://schemas.openxmlformats.org/officeDocument/2006/relationships" id="258" r:id="Rc5aa089a73fa4102"/>
    <p:sldId xmlns:r="http://schemas.openxmlformats.org/officeDocument/2006/relationships" id="259" r:id="Rbc97fc2eef5d4d43"/>
    <p:sldId xmlns:r="http://schemas.openxmlformats.org/officeDocument/2006/relationships" id="260" r:id="Rf4c635879e81409c"/>
    <p:sldId xmlns:r="http://schemas.openxmlformats.org/officeDocument/2006/relationships" id="261" r:id="Rd9ca144c0e1b44ad"/>
    <p:sldId xmlns:r="http://schemas.openxmlformats.org/officeDocument/2006/relationships" id="262" r:id="R02053251a4e648be"/>
    <p:sldId xmlns:r="http://schemas.openxmlformats.org/officeDocument/2006/relationships" id="263" r:id="R51e721f971b5441f"/>
    <p:sldId xmlns:r="http://schemas.openxmlformats.org/officeDocument/2006/relationships" id="264" r:id="Rd0762ee1103a4e1f"/>
    <p:sldId xmlns:r="http://schemas.openxmlformats.org/officeDocument/2006/relationships" id="265" r:id="R15caa7085d8f43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4d2d10f86248fa" /><Relationship Type="http://schemas.openxmlformats.org/officeDocument/2006/relationships/slideMaster" Target="/ppt/slideMasters/slideMaster1.xml" Id="Rf5b3ba435b9e4f45" /><Relationship Type="http://schemas.openxmlformats.org/officeDocument/2006/relationships/notesMaster" Target="/ppt/notesMasters/notesMaster1.xml" Id="R2adcded18838455e" /><Relationship Type="http://schemas.openxmlformats.org/officeDocument/2006/relationships/presProps" Target="/ppt/presProps.xml" Id="Radb4c865aea84e61" /><Relationship Type="http://schemas.openxmlformats.org/officeDocument/2006/relationships/tableStyles" Target="/ppt/tableStyles.xml" Id="Rb716bfe80315476d" /><Relationship Type="http://schemas.openxmlformats.org/officeDocument/2006/relationships/slide" Target="/ppt/slides/slide1.xml" Id="Ra55a4cbe4368426d" /><Relationship Type="http://schemas.openxmlformats.org/officeDocument/2006/relationships/slide" Target="/ppt/slides/slide2.xml" Id="R95c75de66c474783" /><Relationship Type="http://schemas.openxmlformats.org/officeDocument/2006/relationships/slide" Target="/ppt/slides/slide3.xml" Id="Rc5aa089a73fa4102" /><Relationship Type="http://schemas.openxmlformats.org/officeDocument/2006/relationships/slide" Target="/ppt/slides/slide4.xml" Id="Rbc97fc2eef5d4d43" /><Relationship Type="http://schemas.openxmlformats.org/officeDocument/2006/relationships/slide" Target="/ppt/slides/slide5.xml" Id="Rf4c635879e81409c" /><Relationship Type="http://schemas.openxmlformats.org/officeDocument/2006/relationships/slide" Target="/ppt/slides/slide6.xml" Id="Rd9ca144c0e1b44ad" /><Relationship Type="http://schemas.openxmlformats.org/officeDocument/2006/relationships/slide" Target="/ppt/slides/slide7.xml" Id="R02053251a4e648be" /><Relationship Type="http://schemas.openxmlformats.org/officeDocument/2006/relationships/slide" Target="/ppt/slides/slide8.xml" Id="R51e721f971b5441f" /><Relationship Type="http://schemas.openxmlformats.org/officeDocument/2006/relationships/slide" Target="/ppt/slides/slide9.xml" Id="Rd0762ee1103a4e1f" /><Relationship Type="http://schemas.openxmlformats.org/officeDocument/2006/relationships/slide" Target="/ppt/slides/slide10.xml" Id="R15caa7085d8f43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f66f5d971242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db368e79294150" /><Relationship Type="http://schemas.openxmlformats.org/officeDocument/2006/relationships/notesMaster" Target="/ppt/notesMasters/notesMaster1.xml" Id="R831be122e88c40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361871f83946db" /><Relationship Type="http://schemas.openxmlformats.org/officeDocument/2006/relationships/notesMaster" Target="/ppt/notesMasters/notesMaster1.xml" Id="R2d358ec891bc4c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086d89f4594dc6" /><Relationship Type="http://schemas.openxmlformats.org/officeDocument/2006/relationships/notesMaster" Target="/ppt/notesMasters/notesMaster1.xml" Id="R000438d920174f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6e99381adf43d5" /><Relationship Type="http://schemas.openxmlformats.org/officeDocument/2006/relationships/notesMaster" Target="/ppt/notesMasters/notesMaster1.xml" Id="Re0fa84fc69c845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50f6f30c234750" /><Relationship Type="http://schemas.openxmlformats.org/officeDocument/2006/relationships/notesMaster" Target="/ppt/notesMasters/notesMaster1.xml" Id="R351dfe6d15c44a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3802b63b5346b8" /><Relationship Type="http://schemas.openxmlformats.org/officeDocument/2006/relationships/notesMaster" Target="/ppt/notesMasters/notesMaster1.xml" Id="R94972446439f44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30488995cc4572" /><Relationship Type="http://schemas.openxmlformats.org/officeDocument/2006/relationships/notesMaster" Target="/ppt/notesMasters/notesMaster1.xml" Id="Ra25c15c348c04b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58056dbcba41c1" /><Relationship Type="http://schemas.openxmlformats.org/officeDocument/2006/relationships/notesMaster" Target="/ppt/notesMasters/notesMaster1.xml" Id="R52233beca46440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2f66f81bac4509" /><Relationship Type="http://schemas.openxmlformats.org/officeDocument/2006/relationships/notesMaster" Target="/ppt/notesMasters/notesMaster1.xml" Id="R174d31159a504d4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787b2e421c429b" /><Relationship Type="http://schemas.openxmlformats.org/officeDocument/2006/relationships/notesMaster" Target="/ppt/notesMasters/notesMaster1.xml" Id="Rd345d42a632a41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a:t>
            </a:r>
          </a:p>
          <a:p xmlns:a="http://schemas.openxmlformats.org/drawingml/2006/main">
            <a:r>
              <a:t/>
            </a:r>
          </a:p>
          <a:p xmlns:a="http://schemas.openxmlformats.org/drawingml/2006/main">
            <a:r>
              <a:t>Imagine a friend sends a cropped screenshot saying city buses will be free next month. This example is fictional. You want to help friends with transport costs, so you are tempted to forward it. What would you check first? The screenshot has no date and no original announcement. Digital Citizen Reflection helps us describe that habit, compare relevant evidence, and choose a realistic change. Today I will show the four steps, then you can reflect privately. You can use a fictional example throughout.</a:t>
            </a:r>
          </a:p>
          <a:p xmlns:a="http://schemas.openxmlformats.org/drawingml/2006/main">
            <a:r>
              <a:t/>
            </a:r>
          </a:p>
          <a:p xmlns:a="http://schemas.openxmlformats.org/drawingml/2006/main">
            <a:r>
              <a:t>Presenter cue: Pause for the opening question. Do not ask for personal disclosures.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1:00–2:00</a:t>
            </a:r>
          </a:p>
          <a:p xmlns:a="http://schemas.openxmlformats.org/drawingml/2006/main">
            <a:r>
              <a:t/>
            </a:r>
          </a:p>
          <a:p xmlns:a="http://schemas.openxmlformats.org/drawingml/2006/main">
            <a:r>
              <a:t>The activity uses original sources and puts their limits beside the findings. WHO reported signs of problematic social media use in eleven percent of the young people surveyed in 2022. The study covered almost 280,000 participants aged eleven, thirteen, and fifteen across forty-four countries and regions. That gives useful population context. It cannot diagnose one person or define a safe number of minutes for everyone. UNESCO's media literacy resources offer another kind of evidence: guidance for thinking critically about information. Guidance can help us decide how to check a post, but it does not establish whether that post is true.</a:t>
            </a:r>
          </a:p>
          <a:p xmlns:a="http://schemas.openxmlformats.org/drawingml/2006/main">
            <a:r>
              <a:t/>
            </a:r>
          </a:p>
          <a:p xmlns:a="http://schemas.openxmlformats.org/drawingml/2006/main">
            <a:r>
              <a:t>Presenter cue: Point out the difference between a population finding and educational guidance.</a:t>
            </a:r>
          </a:p>
          <a:p xmlns:a="http://schemas.openxmlformats.org/drawingml/2006/main">
            <a:r>
              <a:t/>
            </a:r>
          </a:p>
          <a:p xmlns:a="http://schemas.openxmlformats.org/drawingml/2006/main">
            <a:r>
              <a:t>Sources</a:t>
            </a:r>
          </a:p>
          <a:p xmlns:a="http://schemas.openxmlformats.org/drawingml/2006/main">
            <a:r>
              <a:t>WHO, published 25 September 2024: https://www.who.int/europe/news/item/25-09-2024-teens--screens-and-mental-health</a:t>
            </a:r>
          </a:p>
          <a:p xmlns:a="http://schemas.openxmlformats.org/drawingml/2006/main">
            <a:r>
              <a:t>UNESCO, Media and Information Literacy, checked 4 October 2026: https://www.unesco.org/en/media-information-literacy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2:00–3:00</a:t>
            </a:r>
          </a:p>
          <a:p xmlns:a="http://schemas.openxmlformats.org/drawingml/2006/main">
            <a:r>
              <a:t/>
            </a:r>
          </a:p>
          <a:p xmlns:a="http://schemas.openxmlformats.org/drawingml/2006/main">
            <a:r>
              <a:t>The same four steps work across attention, privacy, news, and AI tools. Observe means describing something you actually do, and when it happens. Evaluate means looking at a source, its date, who it covers, and its limitations. Identify means naming a risk while keeping sight of a benefit you value. Act means choosing one realistic change, a way to check what happens, and a date to review it. The page suggests a review seven days ahead, but you can change it. The aim is a useful action plan rather than a score or a judgment about the person.</a:t>
            </a:r>
          </a:p>
          <a:p xmlns:a="http://schemas.openxmlformats.org/drawingml/2006/main">
            <a:r>
              <a:t/>
            </a:r>
          </a:p>
          <a:p xmlns:a="http://schemas.openxmlformats.org/drawingml/2006/main">
            <a:r>
              <a:t>Presenter cue: Name each step slowly. Transition to the live page. Keep slides 4–7 available as the screenshot backup.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3:00–4:00</a:t>
            </a:r>
          </a:p>
          <a:p xmlns:a="http://schemas.openxmlformats.org/drawingml/2006/main">
            <a:r>
              <a:t/>
            </a:r>
          </a:p>
          <a:p xmlns:a="http://schemas.openxmlformats.org/drawingml/2006/main">
            <a:r>
              <a:t>Our fictional post has no date or original link. We can describe that without calling it true or false. In Observe, I select News and information and load the fictional example. If the question about what I notice feels difficult, Help me answer offers smaller prompts. For example: what changes, if anything, afterward? I can skip, say I am not sure, or report no change. A draft uses only the words I supply; I review it before using it.</a:t>
            </a:r>
          </a:p>
          <a:p xmlns:a="http://schemas.openxmlformats.org/drawingml/2006/main">
            <a:r>
              <a:t/>
            </a:r>
          </a:p>
          <a:p xmlns:a="http://schemas.openxmlformats.org/drawingml/2006/main">
            <a:r>
              <a:t>Presenter cue: Live: load the news example. Open Help me answer beside What do you notice afterward, show its first prompt, then close it. Keep the fictional answer. Backup: show the requested-help excerpt.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4:00–5:00</a:t>
            </a:r>
          </a:p>
          <a:p xmlns:a="http://schemas.openxmlformats.org/drawingml/2006/main">
            <a:r>
              <a:t/>
            </a:r>
          </a:p>
          <a:p xmlns:a="http://schemas.openxmlformats.org/drawingml/2006/main">
            <a:r>
              <a:t>In Evaluate, the relevant sources help me think about checking information. I can see the publisher and date, then open the population and limitation section. UNESCO's guidance asks me to engage critically with information. It does not verify our fictional transport claim. I would still need a dated announcement from the transit agency, with the details and conditions. This is why comparing a finding with its limits matters. A trustworthy source can guide a process without answering every question about a particular post.</a:t>
            </a:r>
          </a:p>
          <a:p xmlns:a="http://schemas.openxmlformats.org/drawingml/2006/main">
            <a:r>
              <a:t/>
            </a:r>
          </a:p>
          <a:p xmlns:a="http://schemas.openxmlformats.org/drawingml/2006/main">
            <a:r>
              <a:t>Presenter cue: Live: choose Next step. Expand Who it covers &amp; what it cannot tell us on the UNESCO literacy card. Read the evidence response. Backup: point to the expanded source card in the screenshot.</a:t>
            </a:r>
          </a:p>
          <a:p xmlns:a="http://schemas.openxmlformats.org/drawingml/2006/main">
            <a:r>
              <a:t/>
            </a:r>
          </a:p>
          <a:p xmlns:a="http://schemas.openxmlformats.org/drawingml/2006/main">
            <a:r>
              <a:t>Sources</a:t>
            </a:r>
          </a:p>
          <a:p xmlns:a="http://schemas.openxmlformats.org/drawingml/2006/main">
            <a:r>
              <a:t>UNESCO: https://www.unesco.org/en/media-information-literacy</a:t>
            </a:r>
          </a:p>
          <a:p xmlns:a="http://schemas.openxmlformats.org/drawingml/2006/main">
            <a:r>
              <a:t>UNESCO generative AI guidance: https://www.unesco.org/en/articles/guidance-generative-ai-education-and-research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5:00–6:00</a:t>
            </a:r>
          </a:p>
          <a:p xmlns:a="http://schemas.openxmlformats.org/drawingml/2006/main">
            <a:r>
              <a:t/>
            </a:r>
          </a:p>
          <a:p xmlns:a="http://schemas.openxmlformats.org/drawingml/2006/main">
            <a:r>
              <a:t>Now I identify the risk: passing along a claim before I have evidence for it. That can mislead people making plans. The benefit is still worth keeping. I want to help friends find useful transport information. Naming both makes the change more realistic. I do not have to stop sharing news to improve how I share it. The form lets participants select a risk or describe their own, and it asks them to write the benefit they want to preserve.</a:t>
            </a:r>
          </a:p>
          <a:p xmlns:a="http://schemas.openxmlformats.org/drawingml/2006/main">
            <a:r>
              <a:t/>
            </a:r>
          </a:p>
          <a:p xmlns:a="http://schemas.openxmlformats.org/drawingml/2006/main">
            <a:r>
              <a:t>Presenter cue: Live: choose Next step. Point to the selected risk and benefit. Backup: read those two fields from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6:00–7:00</a:t>
            </a:r>
          </a:p>
          <a:p xmlns:a="http://schemas.openxmlformats.org/drawingml/2006/main">
            <a:r>
              <a:t/>
            </a:r>
          </a:p>
          <a:p xmlns:a="http://schemas.openxmlformats.org/drawingml/2006/main">
            <a:r>
              <a:t>The change is specific: find a dated transit-agency announcement before forwarding the claim. If I cannot verify it, I will say that clearly. The check is also specific: for the next three news posts I consider sharing, note whether I found an original source. I can review that in seven days. The summary stays editable. I can download a text copy or print it. Answers remain temporary unless I enable Save on this device. Saving uses this browser only, so a shared device needs care. Clear reflection removes the draft and the current answers.</a:t>
            </a:r>
          </a:p>
          <a:p xmlns:a="http://schemas.openxmlformats.org/drawingml/2006/main">
            <a:r>
              <a:t/>
            </a:r>
          </a:p>
          <a:p xmlns:a="http://schemas.openxmlformats.org/drawingml/2006/main">
            <a:r>
              <a:t>Presenter cue: Live: choose Act, point to change/check/date, then Build my action plan. Download the text once, then return to the summary. Keep Save on this device unchecked. Backup: show the finished-plan excerpt and describe edit, download and 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7:00–9:00</a:t>
            </a:r>
          </a:p>
          <a:p xmlns:a="http://schemas.openxmlformats.org/drawingml/2006/main">
            <a:r>
              <a:t/>
            </a:r>
          </a:p>
          <a:p xmlns:a="http://schemas.openxmlformats.org/drawingml/2006/main">
            <a:r>
              <a:t>Take two minutes for your own reflection. Use the page, the worksheet, or your own notes. Pick one habit or a fictional example. Keep names and private details out. Name a risk and a benefit to preserve. Choose one small change and a check you can observe. You can keep this private and finish later.</a:t>
            </a:r>
          </a:p>
          <a:p xmlns:a="http://schemas.openxmlformats.org/drawingml/2006/main">
            <a:r>
              <a:t/>
            </a:r>
          </a:p>
          <a:p xmlns:a="http://schemas.openxmlformats.org/drawingml/2006/main">
            <a:r>
              <a:t>Presenter cue: Point to the QR and printed address. Use up to 30 seconds for instructions, then allow 90 seconds privately. At 8:45 give a fifteen-second notice. Offer the paper worksheet if phones or Wi-Fi are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9:00–9:25</a:t>
            </a:r>
          </a:p>
          <a:p xmlns:a="http://schemas.openxmlformats.org/drawingml/2006/main">
            <a:r>
              <a:t/>
            </a:r>
          </a:p>
          <a:p xmlns:a="http://schemas.openxmlformats.org/drawingml/2006/main">
            <a:r>
              <a:t>Building the activity made source limits and privacy choices concrete. The helper waits for an invitation and leaves the participant in control. Testing also covered going back, recovering drafts, keyboard use, and blocked storage.</a:t>
            </a:r>
          </a:p>
          <a:p xmlns:a="http://schemas.openxmlformats.org/drawingml/2006/main">
            <a:r>
              <a:t/>
            </a:r>
          </a:p>
          <a:p xmlns:a="http://schemas.openxmlformats.org/drawingml/2006/main">
            <a:r>
              <a:t>Presenter cue: Describe the demonstrated source, privacy, and helper decisions. Keep the talk within the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9:25–10:00</a:t>
            </a:r>
          </a:p>
          <a:p xmlns:a="http://schemas.openxmlformats.org/drawingml/2006/main">
            <a:r>
              <a:t/>
            </a:r>
          </a:p>
          <a:p xmlns:a="http://schemas.openxmlformats.org/drawingml/2006/main">
            <a:r>
              <a:t>The takeaway is a process you can repeat: observe, evaluate, identify, and act. Keep the benefit you value, try one realistic change, and review what actually happened. The worksheet has the same four steps. Scan the QR or use the address for the activity and resources. The presentation link will keep working when the activity returns to the portfolio. Thank you.</a:t>
            </a:r>
          </a:p>
          <a:p xmlns:a="http://schemas.openxmlformats.org/drawingml/2006/main">
            <a:r>
              <a:t/>
            </a:r>
          </a:p>
          <a:p xmlns:a="http://schemas.openxmlformats.org/drawingml/2006/main">
            <a:r>
              <a:t>Presenter cue: Show the worksheet and QR. End by 10:00. Do not imply an automatic retirement 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aa2ea8c0fd4c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f7530be27445a2" /><Relationship Type="http://schemas.openxmlformats.org/officeDocument/2006/relationships/slideLayout" Target="/ppt/slideLayouts/slideLayout1.xml" Id="Ra6f301beaff043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f301beaff043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12f43670de434f" /><Relationship Type="http://schemas.openxmlformats.org/officeDocument/2006/relationships/notesSlide" Target="/ppt/notesSlides/notesSlide1.xml" Id="R14207bac63f748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afb6609807e4041" /><Relationship Type="http://schemas.openxmlformats.org/officeDocument/2006/relationships/notesSlide" Target="/ppt/notesSlides/notesSlide2.xml" Id="Ra44ee0444c3a43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ddab14dc0934ff9" /><Relationship Type="http://schemas.openxmlformats.org/officeDocument/2006/relationships/notesSlide" Target="/ppt/notesSlides/notesSlide3.xml" Id="R70cbbb34efd948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6dc13dea41f42b8" /><Relationship Type="http://schemas.openxmlformats.org/officeDocument/2006/relationships/image" Target="/ppt/media/image.png" Id="R52db4857c89c43e4" /><Relationship Type="http://schemas.openxmlformats.org/officeDocument/2006/relationships/notesSlide" Target="/ppt/notesSlides/notesSlide4.xml" Id="R0515ec7c10a14c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26e9f4943a430d" /><Relationship Type="http://schemas.openxmlformats.org/officeDocument/2006/relationships/image" Target="/ppt/media/image2.png" Id="Refeaf92e42c644b9" /><Relationship Type="http://schemas.openxmlformats.org/officeDocument/2006/relationships/notesSlide" Target="/ppt/notesSlides/notesSlide5.xml" Id="Raeacb8b31b1d49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f4f5be3f254fc3" /><Relationship Type="http://schemas.openxmlformats.org/officeDocument/2006/relationships/image" Target="/ppt/media/image3.png" Id="R1a38f7360b294c98" /><Relationship Type="http://schemas.openxmlformats.org/officeDocument/2006/relationships/notesSlide" Target="/ppt/notesSlides/notesSlide6.xml" Id="R4042f2bc06d04b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3ef6450c734447" /><Relationship Type="http://schemas.openxmlformats.org/officeDocument/2006/relationships/image" Target="/ppt/media/image4.png" Id="R93aa79a5655143f0" /><Relationship Type="http://schemas.openxmlformats.org/officeDocument/2006/relationships/notesSlide" Target="/ppt/notesSlides/notesSlide7.xml" Id="Rdcf9a74a83c043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c9c34684bce4446" /><Relationship Type="http://schemas.openxmlformats.org/officeDocument/2006/relationships/image" Target="/ppt/media/image5.png" Id="Red704500bee94ba8" /><Relationship Type="http://schemas.openxmlformats.org/officeDocument/2006/relationships/notesSlide" Target="/ppt/notesSlides/notesSlide8.xml" Id="Rc8ef79e3c13f4c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8f1d0cafa264cde" /><Relationship Type="http://schemas.openxmlformats.org/officeDocument/2006/relationships/notesSlide" Target="/ppt/notesSlides/notesSlide9.xml" Id="R709b1975b20e45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97f9cdd75d44457" /><Relationship Type="http://schemas.openxmlformats.org/officeDocument/2006/relationships/image" Target="/ppt/media/image6.png" Id="R814ca347a5c84bca" /><Relationship Type="http://schemas.openxmlformats.org/officeDocument/2006/relationships/notesSlide" Target="/ppt/notesSlides/notesSlide10.xml" Id="Rda237dc823864fb8" /></Relationships>
</file>

<file path=ppt/slides/slide1.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E6C9BA-1BE3-4742-9CB9-3F14A1D15C3A}"/>
              </a:ext>
            </a:extLst>
          </p:cNvPr>
          <p:cNvSpPr>
            <a:spLocks xmlns:a="http://schemas.openxmlformats.org/drawingml/2006/main" noGrp="1"/>
          </p:cNvSpPr>
          <p:nvPr/>
        </p:nvSpPr>
        <p:spPr>
          <a:xfrm xmlns:a="http://schemas.openxmlformats.org/drawingml/2006/main">
            <a:off x="609600" y="2667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DIGITAL CITIZEN REFLECTION</a:t>
            </a:r>
          </a:p>
        </p:txBody>
      </p:sp>
      <p:sp>
        <p:nvSpPr>
          <p:cNvPr id="2" name="">
            <a:extLst xmlns:a="http://schemas.openxmlformats.org/drawingml/2006/main">
              <a:ext uri="{FF2B5EF4-FFF2-40B4-BE49-F238E27FC236}">
                <a16:creationId xmlns:a16="http://schemas.microsoft.com/office/drawing/2014/main" id="{36E655EB-C7CE-4E11-BA5A-2D4F39CFD509}"/>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0:00–1:00</a:t>
            </a:r>
          </a:p>
        </p:txBody>
      </p:sp>
      <p:sp>
        <p:nvSpPr>
          <p:cNvPr id="3" name="">
            <a:extLst xmlns:a="http://schemas.openxmlformats.org/drawingml/2006/main">
              <a:ext uri="{FF2B5EF4-FFF2-40B4-BE49-F238E27FC236}">
                <a16:creationId xmlns:a16="http://schemas.microsoft.com/office/drawing/2014/main" id="{8F185FB8-FB44-446E-B2A3-AF6E71EBD233}"/>
              </a:ext>
            </a:extLst>
          </p:cNvPr>
          <p:cNvSpPr>
            <a:spLocks xmlns:a="http://schemas.openxmlformats.org/drawingml/2006/main" noGrp="1"/>
          </p:cNvSpPr>
          <p:nvPr/>
        </p:nvSpPr>
        <p:spPr>
          <a:xfrm xmlns:a="http://schemas.openxmlformats.org/drawingml/2006/main">
            <a:off x="609600" y="83820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0">
                <a:solidFill>
                  <a:srgbClr val="142033"/>
                </a:solidFill>
                <a:latin typeface="Georgia"/>
                <a:ea typeface="Georgia"/>
                <a:cs typeface="Georgia"/>
              </a:defRPr>
            </a:pPr>
            <a:r>
              <a:rPr sz="5100" b="0">
                <a:solidFill>
                  <a:srgbClr val="142033"/>
                </a:solidFill>
                <a:latin typeface="Georgia"/>
                <a:ea typeface="Georgia"/>
                <a:cs typeface="Georgia"/>
              </a:rPr>
              <a:t>A news post worth checking</a:t>
            </a:r>
          </a:p>
        </p:txBody>
      </p:sp>
      <p:sp>
        <p:nvSpPr>
          <p:cNvPr id="4" name="">
            <a:extLst xmlns:a="http://schemas.openxmlformats.org/drawingml/2006/main">
              <a:ext uri="{FF2B5EF4-FFF2-40B4-BE49-F238E27FC236}">
                <a16:creationId xmlns:a16="http://schemas.microsoft.com/office/drawing/2014/main" id="{F1E31D8B-4F2E-4CB9-9A2D-5CD8A61F63C3}"/>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358D779-04D8-49E3-B244-224107B42D14}"/>
              </a:ext>
            </a:extLst>
          </p:cNvPr>
          <p:cNvSpPr>
            <a:spLocks xmlns:a="http://schemas.openxmlformats.org/drawingml/2006/main" noGrp="1"/>
          </p:cNvSpPr>
          <p:nvPr/>
        </p:nvSpPr>
        <p:spPr>
          <a:xfrm xmlns:a="http://schemas.openxmlformats.org/drawingml/2006/main">
            <a:off x="647700" y="2857500"/>
            <a:ext cx="933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294FDB"/>
                </a:solidFill>
                <a:latin typeface="Arial"/>
                <a:ea typeface="Arial"/>
                <a:cs typeface="Arial"/>
              </a:defRPr>
            </a:pPr>
            <a:r>
              <a:rPr sz="2850" b="0">
                <a:solidFill>
                  <a:srgbClr val="294FDB"/>
                </a:solidFill>
                <a:latin typeface="Arial"/>
                <a:ea typeface="Arial"/>
                <a:cs typeface="Arial"/>
              </a:rPr>
              <a:t>"City buses will be free next month"</a:t>
            </a:r>
          </a:p>
        </p:txBody>
      </p:sp>
      <p:sp>
        <p:nvSpPr>
          <p:cNvPr id="6" name="">
            <a:extLst xmlns:a="http://schemas.openxmlformats.org/drawingml/2006/main">
              <a:ext uri="{FF2B5EF4-FFF2-40B4-BE49-F238E27FC236}">
                <a16:creationId xmlns:a16="http://schemas.microsoft.com/office/drawing/2014/main" id="{A9C4F5F8-1CBE-4E54-AFBA-08DC5D5AD4A1}"/>
              </a:ext>
            </a:extLst>
          </p:cNvPr>
          <p:cNvSpPr>
            <a:spLocks xmlns:a="http://schemas.openxmlformats.org/drawingml/2006/main" noGrp="1"/>
          </p:cNvSpPr>
          <p:nvPr/>
        </p:nvSpPr>
        <p:spPr>
          <a:xfrm xmlns:a="http://schemas.openxmlformats.org/drawingml/2006/main">
            <a:off x="647700" y="5143500"/>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033"/>
                </a:solidFill>
                <a:latin typeface="Arial"/>
                <a:ea typeface="Arial"/>
                <a:cs typeface="Arial"/>
              </a:defRPr>
            </a:pPr>
            <a:r>
              <a:rPr sz="2100" b="1">
                <a:solidFill>
                  <a:srgbClr val="142033"/>
                </a:solidFill>
                <a:latin typeface="Arial"/>
                <a:ea typeface="Arial"/>
                <a:cs typeface="Arial"/>
              </a:rPr>
              <a:t>FICTIONAL EXAMPLE · CROPPED SCREENSHOT</a:t>
            </a:r>
          </a:p>
        </p:txBody>
      </p:sp>
      <p:sp>
        <p:nvSpPr>
          <p:cNvPr id="7" name="">
            <a:extLst xmlns:a="http://schemas.openxmlformats.org/drawingml/2006/main">
              <a:ext uri="{FF2B5EF4-FFF2-40B4-BE49-F238E27FC236}">
                <a16:creationId xmlns:a16="http://schemas.microsoft.com/office/drawing/2014/main" id="{D8C36B9A-78E4-4D29-9457-034C800B3E3D}"/>
              </a:ext>
            </a:extLst>
          </p:cNvPr>
          <p:cNvSpPr>
            <a:spLocks xmlns:a="http://schemas.openxmlformats.org/drawingml/2006/main" noGrp="1"/>
          </p:cNvSpPr>
          <p:nvPr/>
        </p:nvSpPr>
        <p:spPr>
          <a:xfrm xmlns:a="http://schemas.openxmlformats.org/drawingml/2006/main">
            <a:off x="647700" y="561975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174"/>
                </a:solidFill>
                <a:latin typeface="Arial"/>
                <a:ea typeface="Arial"/>
                <a:cs typeface="Arial"/>
              </a:defRPr>
            </a:pPr>
            <a:r>
              <a:rPr sz="1800" b="0">
                <a:solidFill>
                  <a:srgbClr val="516174"/>
                </a:solidFill>
                <a:latin typeface="Arial"/>
                <a:ea typeface="Arial"/>
                <a:cs typeface="Arial"/>
              </a:rPr>
              <a:t>What would you check before forwarding?</a:t>
            </a:r>
          </a:p>
        </p:txBody>
      </p:sp>
    </p:spTree>
    <p:extLst>
      <p:ext uri="{BB962C8B-B14F-4D97-AF65-F5344CB8AC3E}">
        <p14:creationId xmlns:p14="http://schemas.microsoft.com/office/powerpoint/2010/main" val="618803963"/>
      </p:ext>
    </p:extLst>
  </p:cSld>
</p:sld>
</file>

<file path=ppt/slides/slide2.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330747-704A-483D-B55C-E454D5B6BAAC}"/>
              </a:ext>
            </a:extLst>
          </p:cNvPr>
          <p:cNvSpPr>
            <a:spLocks xmlns:a="http://schemas.openxmlformats.org/drawingml/2006/main" noGrp="1"/>
          </p:cNvSpPr>
          <p:nvPr/>
        </p:nvSpPr>
        <p:spPr>
          <a:xfrm xmlns:a="http://schemas.openxmlformats.org/drawingml/2006/main">
            <a:off x="609600" y="2667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DIGITAL CITIZEN REFLECTION</a:t>
            </a:r>
          </a:p>
        </p:txBody>
      </p:sp>
      <p:sp>
        <p:nvSpPr>
          <p:cNvPr id="2" name="">
            <a:extLst xmlns:a="http://schemas.openxmlformats.org/drawingml/2006/main">
              <a:ext uri="{FF2B5EF4-FFF2-40B4-BE49-F238E27FC236}">
                <a16:creationId xmlns:a16="http://schemas.microsoft.com/office/drawing/2014/main" id="{A7BD553C-BED3-45C2-BCC5-8F232DE26B01}"/>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1:00–2:00</a:t>
            </a:r>
          </a:p>
        </p:txBody>
      </p:sp>
      <p:sp>
        <p:nvSpPr>
          <p:cNvPr id="3" name="">
            <a:extLst xmlns:a="http://schemas.openxmlformats.org/drawingml/2006/main">
              <a:ext uri="{FF2B5EF4-FFF2-40B4-BE49-F238E27FC236}">
                <a16:creationId xmlns:a16="http://schemas.microsoft.com/office/drawing/2014/main" id="{767943C7-FF11-40AF-8E4D-41AB01463D80}"/>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Evidence and its limits</a:t>
            </a:r>
          </a:p>
        </p:txBody>
      </p:sp>
      <p:sp>
        <p:nvSpPr>
          <p:cNvPr id="4" name="">
            <a:extLst xmlns:a="http://schemas.openxmlformats.org/drawingml/2006/main">
              <a:ext uri="{FF2B5EF4-FFF2-40B4-BE49-F238E27FC236}">
                <a16:creationId xmlns:a16="http://schemas.microsoft.com/office/drawing/2014/main" id="{9E89D971-4DE9-4666-82BE-06C7A31EA6B4}"/>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2A2010E-147D-4285-8B8A-B008EF7F9C56}"/>
              </a:ext>
            </a:extLst>
          </p:cNvPr>
          <p:cNvSpPr>
            <a:spLocks xmlns:a="http://schemas.openxmlformats.org/drawingml/2006/main" noGrp="1"/>
          </p:cNvSpPr>
          <p:nvPr/>
        </p:nvSpPr>
        <p:spPr>
          <a:xfrm xmlns:a="http://schemas.openxmlformats.org/drawingml/2006/main">
            <a:off x="609600" y="19526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94FDB"/>
                </a:solidFill>
                <a:latin typeface="Arial"/>
                <a:ea typeface="Arial"/>
                <a:cs typeface="Arial"/>
              </a:defRPr>
            </a:pPr>
            <a:r>
              <a:rPr sz="2850" b="1">
                <a:solidFill>
                  <a:srgbClr val="294FDB"/>
                </a:solidFill>
                <a:latin typeface="Arial"/>
                <a:ea typeface="Arial"/>
                <a:cs typeface="Arial"/>
              </a:rPr>
              <a:t>WHO survey: 11% showed signs of problematic social media use</a:t>
            </a:r>
          </a:p>
        </p:txBody>
      </p:sp>
      <p:sp>
        <p:nvSpPr>
          <p:cNvPr id="6" name="">
            <a:extLst xmlns:a="http://schemas.openxmlformats.org/drawingml/2006/main">
              <a:ext uri="{FF2B5EF4-FFF2-40B4-BE49-F238E27FC236}">
                <a16:creationId xmlns:a16="http://schemas.microsoft.com/office/drawing/2014/main" id="{B2D9EDB6-FBB2-4BED-9176-DEB5F952FFDA}"/>
              </a:ext>
            </a:extLst>
          </p:cNvPr>
          <p:cNvSpPr>
            <a:spLocks xmlns:a="http://schemas.openxmlformats.org/drawingml/2006/main" noGrp="1"/>
          </p:cNvSpPr>
          <p:nvPr/>
        </p:nvSpPr>
        <p:spPr>
          <a:xfrm xmlns:a="http://schemas.openxmlformats.org/drawingml/2006/main">
            <a:off x="609600" y="2838450"/>
            <a:ext cx="1009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16174"/>
                </a:solidFill>
                <a:latin typeface="Arial"/>
                <a:ea typeface="Arial"/>
                <a:cs typeface="Arial"/>
              </a:defRPr>
            </a:pPr>
            <a:r>
              <a:rPr sz="2025" b="0">
                <a:solidFill>
                  <a:srgbClr val="516174"/>
                </a:solidFill>
                <a:latin typeface="Arial"/>
                <a:ea typeface="Arial"/>
                <a:cs typeface="Arial"/>
              </a:rPr>
              <a:t>Almost 280,000 young people, ages 11, 13 and 15. Surveyed in 2022.</a:t>
            </a:r>
          </a:p>
        </p:txBody>
      </p:sp>
      <p:sp>
        <p:nvSpPr>
          <p:cNvPr id="7" name="">
            <a:extLst xmlns:a="http://schemas.openxmlformats.org/drawingml/2006/main">
              <a:ext uri="{FF2B5EF4-FFF2-40B4-BE49-F238E27FC236}">
                <a16:creationId xmlns:a16="http://schemas.microsoft.com/office/drawing/2014/main" id="{FB6C6C9A-FC86-4F9F-BECC-3417D3F77E35}"/>
              </a:ext>
            </a:extLst>
          </p:cNvPr>
          <p:cNvSpPr>
            <a:spLocks xmlns:a="http://schemas.openxmlformats.org/drawingml/2006/main" noGrp="1"/>
          </p:cNvSpPr>
          <p:nvPr/>
        </p:nvSpPr>
        <p:spPr>
          <a:xfrm xmlns:a="http://schemas.openxmlformats.org/drawingml/2006/main">
            <a:off x="609600" y="40195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033"/>
                </a:solidFill>
                <a:latin typeface="Arial"/>
                <a:ea typeface="Arial"/>
                <a:cs typeface="Arial"/>
              </a:defRPr>
            </a:pPr>
            <a:r>
              <a:rPr sz="2700" b="1">
                <a:solidFill>
                  <a:srgbClr val="142033"/>
                </a:solidFill>
                <a:latin typeface="Arial"/>
                <a:ea typeface="Arial"/>
                <a:cs typeface="Arial"/>
              </a:rPr>
              <a:t>UNESCO: a framework for judging information</a:t>
            </a:r>
          </a:p>
        </p:txBody>
      </p:sp>
      <p:sp>
        <p:nvSpPr>
          <p:cNvPr id="8" name="">
            <a:extLst xmlns:a="http://schemas.openxmlformats.org/drawingml/2006/main">
              <a:ext uri="{FF2B5EF4-FFF2-40B4-BE49-F238E27FC236}">
                <a16:creationId xmlns:a16="http://schemas.microsoft.com/office/drawing/2014/main" id="{5F45930A-DA22-4505-8CDA-CA30CABD6956}"/>
              </a:ext>
            </a:extLst>
          </p:cNvPr>
          <p:cNvSpPr>
            <a:spLocks xmlns:a="http://schemas.openxmlformats.org/drawingml/2006/main" noGrp="1"/>
          </p:cNvSpPr>
          <p:nvPr/>
        </p:nvSpPr>
        <p:spPr>
          <a:xfrm xmlns:a="http://schemas.openxmlformats.org/drawingml/2006/main">
            <a:off x="609600" y="4781550"/>
            <a:ext cx="1028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033"/>
                </a:solidFill>
                <a:latin typeface="Arial"/>
                <a:ea typeface="Arial"/>
                <a:cs typeface="Arial"/>
              </a:defRPr>
            </a:pPr>
            <a:r>
              <a:rPr sz="2175" b="0">
                <a:solidFill>
                  <a:srgbClr val="142033"/>
                </a:solidFill>
                <a:latin typeface="Arial"/>
                <a:ea typeface="Arial"/>
                <a:cs typeface="Arial"/>
              </a:rPr>
              <a:t>Guidance helps us ask better questions. A specific claim still needs its own evidence.</a:t>
            </a:r>
          </a:p>
        </p:txBody>
      </p:sp>
      <p:sp>
        <p:nvSpPr>
          <p:cNvPr id="9" name="">
            <a:extLst xmlns:a="http://schemas.openxmlformats.org/drawingml/2006/main">
              <a:ext uri="{FF2B5EF4-FFF2-40B4-BE49-F238E27FC236}">
                <a16:creationId xmlns:a16="http://schemas.microsoft.com/office/drawing/2014/main" id="{642E3307-5C75-4CA4-9735-3CBCCB9042C1}"/>
              </a:ext>
            </a:extLst>
          </p:cNvPr>
          <p:cNvSpPr>
            <a:spLocks xmlns:a="http://schemas.openxmlformats.org/drawingml/2006/main" noGrp="1"/>
          </p:cNvSpPr>
          <p:nvPr/>
        </p:nvSpPr>
        <p:spPr>
          <a:xfrm xmlns:a="http://schemas.openxmlformats.org/drawingml/2006/main">
            <a:off x="609600" y="59817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16174"/>
                </a:solidFill>
                <a:latin typeface="Arial"/>
                <a:ea typeface="Arial"/>
                <a:cs typeface="Arial"/>
              </a:defRPr>
            </a:pPr>
            <a:r>
              <a:rPr sz="1500" b="0">
                <a:solidFill>
                  <a:srgbClr val="516174"/>
                </a:solidFill>
                <a:latin typeface="Arial"/>
                <a:ea typeface="Arial"/>
                <a:cs typeface="Arial"/>
              </a:rPr>
              <a:t>WHO (2024) and UNESCO media literacy resources. Sources in speaker notes.</a:t>
            </a:r>
          </a:p>
        </p:txBody>
      </p:sp>
    </p:spTree>
    <p:extLst>
      <p:ext uri="{BB962C8B-B14F-4D97-AF65-F5344CB8AC3E}">
        <p14:creationId xmlns:p14="http://schemas.microsoft.com/office/powerpoint/2010/main" val="1009545523"/>
      </p:ext>
    </p:extLst>
  </p:cSld>
</p:sld>
</file>

<file path=ppt/slides/slide3.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86958FB-72E6-448E-A372-48B726873B9B}"/>
              </a:ext>
            </a:extLst>
          </p:cNvPr>
          <p:cNvSpPr>
            <a:spLocks xmlns:a="http://schemas.openxmlformats.org/drawingml/2006/main" noGrp="1"/>
          </p:cNvSpPr>
          <p:nvPr/>
        </p:nvSpPr>
        <p:spPr>
          <a:xfrm xmlns:a="http://schemas.openxmlformats.org/drawingml/2006/main">
            <a:off x="609600" y="2667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DIGITAL CITIZEN REFLECTION</a:t>
            </a:r>
          </a:p>
        </p:txBody>
      </p:sp>
      <p:sp>
        <p:nvSpPr>
          <p:cNvPr id="2" name="">
            <a:extLst xmlns:a="http://schemas.openxmlformats.org/drawingml/2006/main">
              <a:ext uri="{FF2B5EF4-FFF2-40B4-BE49-F238E27FC236}">
                <a16:creationId xmlns:a16="http://schemas.microsoft.com/office/drawing/2014/main" id="{A17B2E8F-8740-49A9-84B6-483EDEA767A0}"/>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2:00–3:00</a:t>
            </a:r>
          </a:p>
        </p:txBody>
      </p:sp>
      <p:sp>
        <p:nvSpPr>
          <p:cNvPr id="3" name="">
            <a:extLst xmlns:a="http://schemas.openxmlformats.org/drawingml/2006/main">
              <a:ext uri="{FF2B5EF4-FFF2-40B4-BE49-F238E27FC236}">
                <a16:creationId xmlns:a16="http://schemas.microsoft.com/office/drawing/2014/main" id="{72C06638-66A6-4F43-854E-050E88624EB4}"/>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The four-step framework</a:t>
            </a:r>
          </a:p>
        </p:txBody>
      </p:sp>
      <p:sp>
        <p:nvSpPr>
          <p:cNvPr id="4" name="">
            <a:extLst xmlns:a="http://schemas.openxmlformats.org/drawingml/2006/main">
              <a:ext uri="{FF2B5EF4-FFF2-40B4-BE49-F238E27FC236}">
                <a16:creationId xmlns:a16="http://schemas.microsoft.com/office/drawing/2014/main" id="{209301CC-8648-498F-9EF3-7082652E8458}"/>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3C710DE4-502D-402A-9AD5-75007D9A4CFF}"/>
              </a:ext>
            </a:extLst>
          </p:cNvPr>
          <p:cNvSpPr>
            <a:spLocks xmlns:a="http://schemas.openxmlformats.org/drawingml/2006/main" noGrp="1"/>
          </p:cNvSpPr>
          <p:nvPr/>
        </p:nvSpPr>
        <p:spPr>
          <a:xfrm xmlns:a="http://schemas.openxmlformats.org/drawingml/2006/main">
            <a:off x="609600" y="1971675"/>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94FDB"/>
                </a:solidFill>
                <a:latin typeface="Georgia"/>
                <a:ea typeface="Georgia"/>
                <a:cs typeface="Georgia"/>
              </a:defRPr>
            </a:pPr>
            <a:r>
              <a:rPr sz="3600" b="0">
                <a:solidFill>
                  <a:srgbClr val="294FDB"/>
                </a:solidFill>
                <a:latin typeface="Georgia"/>
                <a:ea typeface="Georgia"/>
                <a:cs typeface="Georgia"/>
              </a:rPr>
              <a:t>1</a:t>
            </a:r>
          </a:p>
        </p:txBody>
      </p:sp>
      <p:sp>
        <p:nvSpPr>
          <p:cNvPr id="6" name="">
            <a:extLst xmlns:a="http://schemas.openxmlformats.org/drawingml/2006/main">
              <a:ext uri="{FF2B5EF4-FFF2-40B4-BE49-F238E27FC236}">
                <a16:creationId xmlns:a16="http://schemas.microsoft.com/office/drawing/2014/main" id="{6A18C7AB-E739-4098-928F-FFA6DE971D3E}"/>
              </a:ext>
            </a:extLst>
          </p:cNvPr>
          <p:cNvSpPr>
            <a:spLocks xmlns:a="http://schemas.openxmlformats.org/drawingml/2006/main" noGrp="1"/>
          </p:cNvSpPr>
          <p:nvPr/>
        </p:nvSpPr>
        <p:spPr>
          <a:xfrm xmlns:a="http://schemas.openxmlformats.org/drawingml/2006/main">
            <a:off x="1466850" y="200977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033"/>
                </a:solidFill>
                <a:latin typeface="Arial"/>
                <a:ea typeface="Arial"/>
                <a:cs typeface="Arial"/>
              </a:defRPr>
            </a:pPr>
            <a:r>
              <a:rPr sz="2625" b="1">
                <a:solidFill>
                  <a:srgbClr val="142033"/>
                </a:solidFill>
                <a:latin typeface="Arial"/>
                <a:ea typeface="Arial"/>
                <a:cs typeface="Arial"/>
              </a:rPr>
              <a:t>Observe</a:t>
            </a:r>
          </a:p>
        </p:txBody>
      </p:sp>
      <p:sp>
        <p:nvSpPr>
          <p:cNvPr id="7" name="">
            <a:extLst xmlns:a="http://schemas.openxmlformats.org/drawingml/2006/main">
              <a:ext uri="{FF2B5EF4-FFF2-40B4-BE49-F238E27FC236}">
                <a16:creationId xmlns:a16="http://schemas.microsoft.com/office/drawing/2014/main" id="{E9660F31-5DA9-4240-9E18-B83AC3F2BC9F}"/>
              </a:ext>
            </a:extLst>
          </p:cNvPr>
          <p:cNvSpPr>
            <a:spLocks xmlns:a="http://schemas.openxmlformats.org/drawingml/2006/main" noGrp="1"/>
          </p:cNvSpPr>
          <p:nvPr/>
        </p:nvSpPr>
        <p:spPr>
          <a:xfrm xmlns:a="http://schemas.openxmlformats.org/drawingml/2006/main">
            <a:off x="4324350" y="205740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033"/>
                </a:solidFill>
                <a:latin typeface="Arial"/>
                <a:ea typeface="Arial"/>
                <a:cs typeface="Arial"/>
              </a:defRPr>
            </a:pPr>
            <a:r>
              <a:rPr sz="2325" b="0">
                <a:solidFill>
                  <a:srgbClr val="142033"/>
                </a:solidFill>
                <a:latin typeface="Arial"/>
                <a:ea typeface="Arial"/>
                <a:cs typeface="Arial"/>
              </a:rPr>
              <a:t>What happens, in what context?</a:t>
            </a:r>
          </a:p>
        </p:txBody>
      </p:sp>
      <p:sp>
        <p:nvSpPr>
          <p:cNvPr id="8" name="">
            <a:extLst xmlns:a="http://schemas.openxmlformats.org/drawingml/2006/main">
              <a:ext uri="{FF2B5EF4-FFF2-40B4-BE49-F238E27FC236}">
                <a16:creationId xmlns:a16="http://schemas.microsoft.com/office/drawing/2014/main" id="{42CFD410-825D-4A28-8215-F880BDEAB786}"/>
              </a:ext>
            </a:extLst>
          </p:cNvPr>
          <p:cNvSpPr>
            <a:spLocks xmlns:a="http://schemas.openxmlformats.org/drawingml/2006/main" noGrp="1"/>
          </p:cNvSpPr>
          <p:nvPr/>
        </p:nvSpPr>
        <p:spPr>
          <a:xfrm xmlns:a="http://schemas.openxmlformats.org/drawingml/2006/main">
            <a:off x="609600" y="2943225"/>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94FDB"/>
                </a:solidFill>
                <a:latin typeface="Georgia"/>
                <a:ea typeface="Georgia"/>
                <a:cs typeface="Georgia"/>
              </a:defRPr>
            </a:pPr>
            <a:r>
              <a:rPr sz="3600" b="0">
                <a:solidFill>
                  <a:srgbClr val="294FDB"/>
                </a:solidFill>
                <a:latin typeface="Georgia"/>
                <a:ea typeface="Georgia"/>
                <a:cs typeface="Georgia"/>
              </a:rPr>
              <a:t>2</a:t>
            </a:r>
          </a:p>
        </p:txBody>
      </p:sp>
      <p:sp>
        <p:nvSpPr>
          <p:cNvPr id="9" name="">
            <a:extLst xmlns:a="http://schemas.openxmlformats.org/drawingml/2006/main">
              <a:ext uri="{FF2B5EF4-FFF2-40B4-BE49-F238E27FC236}">
                <a16:creationId xmlns:a16="http://schemas.microsoft.com/office/drawing/2014/main" id="{C643108F-27AB-44ED-9750-55716BC87CF9}"/>
              </a:ext>
            </a:extLst>
          </p:cNvPr>
          <p:cNvSpPr>
            <a:spLocks xmlns:a="http://schemas.openxmlformats.org/drawingml/2006/main" noGrp="1"/>
          </p:cNvSpPr>
          <p:nvPr/>
        </p:nvSpPr>
        <p:spPr>
          <a:xfrm xmlns:a="http://schemas.openxmlformats.org/drawingml/2006/main">
            <a:off x="1466850" y="298132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033"/>
                </a:solidFill>
                <a:latin typeface="Arial"/>
                <a:ea typeface="Arial"/>
                <a:cs typeface="Arial"/>
              </a:defRPr>
            </a:pPr>
            <a:r>
              <a:rPr sz="2625" b="1">
                <a:solidFill>
                  <a:srgbClr val="142033"/>
                </a:solidFill>
                <a:latin typeface="Arial"/>
                <a:ea typeface="Arial"/>
                <a:cs typeface="Arial"/>
              </a:rPr>
              <a:t>Evaluate</a:t>
            </a:r>
          </a:p>
        </p:txBody>
      </p:sp>
      <p:sp>
        <p:nvSpPr>
          <p:cNvPr id="10" name="">
            <a:extLst xmlns:a="http://schemas.openxmlformats.org/drawingml/2006/main">
              <a:ext uri="{FF2B5EF4-FFF2-40B4-BE49-F238E27FC236}">
                <a16:creationId xmlns:a16="http://schemas.microsoft.com/office/drawing/2014/main" id="{7DD27483-C722-42EB-BDC0-FEAD4A02F897}"/>
              </a:ext>
            </a:extLst>
          </p:cNvPr>
          <p:cNvSpPr>
            <a:spLocks xmlns:a="http://schemas.openxmlformats.org/drawingml/2006/main" noGrp="1"/>
          </p:cNvSpPr>
          <p:nvPr/>
        </p:nvSpPr>
        <p:spPr>
          <a:xfrm xmlns:a="http://schemas.openxmlformats.org/drawingml/2006/main">
            <a:off x="4324350" y="302895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033"/>
                </a:solidFill>
                <a:latin typeface="Arial"/>
                <a:ea typeface="Arial"/>
                <a:cs typeface="Arial"/>
              </a:defRPr>
            </a:pPr>
            <a:r>
              <a:rPr sz="2325" b="0">
                <a:solidFill>
                  <a:srgbClr val="142033"/>
                </a:solidFill>
                <a:latin typeface="Arial"/>
                <a:ea typeface="Arial"/>
                <a:cs typeface="Arial"/>
              </a:rPr>
              <a:t>What does the evidence support?</a:t>
            </a:r>
          </a:p>
        </p:txBody>
      </p:sp>
      <p:sp>
        <p:nvSpPr>
          <p:cNvPr id="11" name="">
            <a:extLst xmlns:a="http://schemas.openxmlformats.org/drawingml/2006/main">
              <a:ext uri="{FF2B5EF4-FFF2-40B4-BE49-F238E27FC236}">
                <a16:creationId xmlns:a16="http://schemas.microsoft.com/office/drawing/2014/main" id="{CD3D8421-3F2C-4079-AB95-54F2CBE351B2}"/>
              </a:ext>
            </a:extLst>
          </p:cNvPr>
          <p:cNvSpPr>
            <a:spLocks xmlns:a="http://schemas.openxmlformats.org/drawingml/2006/main" noGrp="1"/>
          </p:cNvSpPr>
          <p:nvPr/>
        </p:nvSpPr>
        <p:spPr>
          <a:xfrm xmlns:a="http://schemas.openxmlformats.org/drawingml/2006/main">
            <a:off x="609600" y="3914775"/>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94FDB"/>
                </a:solidFill>
                <a:latin typeface="Georgia"/>
                <a:ea typeface="Georgia"/>
                <a:cs typeface="Georgia"/>
              </a:defRPr>
            </a:pPr>
            <a:r>
              <a:rPr sz="3600" b="0">
                <a:solidFill>
                  <a:srgbClr val="294FDB"/>
                </a:solidFill>
                <a:latin typeface="Georgia"/>
                <a:ea typeface="Georgia"/>
                <a:cs typeface="Georgia"/>
              </a:rPr>
              <a:t>3</a:t>
            </a:r>
          </a:p>
        </p:txBody>
      </p:sp>
      <p:sp>
        <p:nvSpPr>
          <p:cNvPr id="12" name="">
            <a:extLst xmlns:a="http://schemas.openxmlformats.org/drawingml/2006/main">
              <a:ext uri="{FF2B5EF4-FFF2-40B4-BE49-F238E27FC236}">
                <a16:creationId xmlns:a16="http://schemas.microsoft.com/office/drawing/2014/main" id="{37A797A0-EE18-43C3-9C6A-7A8DC72C75D0}"/>
              </a:ext>
            </a:extLst>
          </p:cNvPr>
          <p:cNvSpPr>
            <a:spLocks xmlns:a="http://schemas.openxmlformats.org/drawingml/2006/main" noGrp="1"/>
          </p:cNvSpPr>
          <p:nvPr/>
        </p:nvSpPr>
        <p:spPr>
          <a:xfrm xmlns:a="http://schemas.openxmlformats.org/drawingml/2006/main">
            <a:off x="1466850" y="395287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033"/>
                </a:solidFill>
                <a:latin typeface="Arial"/>
                <a:ea typeface="Arial"/>
                <a:cs typeface="Arial"/>
              </a:defRPr>
            </a:pPr>
            <a:r>
              <a:rPr sz="2625" b="1">
                <a:solidFill>
                  <a:srgbClr val="142033"/>
                </a:solidFill>
                <a:latin typeface="Arial"/>
                <a:ea typeface="Arial"/>
                <a:cs typeface="Arial"/>
              </a:rPr>
              <a:t>Identify</a:t>
            </a:r>
          </a:p>
        </p:txBody>
      </p:sp>
      <p:sp>
        <p:nvSpPr>
          <p:cNvPr id="13" name="">
            <a:extLst xmlns:a="http://schemas.openxmlformats.org/drawingml/2006/main">
              <a:ext uri="{FF2B5EF4-FFF2-40B4-BE49-F238E27FC236}">
                <a16:creationId xmlns:a16="http://schemas.microsoft.com/office/drawing/2014/main" id="{EA4B66DF-A2BF-4E54-B814-B59FAC52B0CB}"/>
              </a:ext>
            </a:extLst>
          </p:cNvPr>
          <p:cNvSpPr>
            <a:spLocks xmlns:a="http://schemas.openxmlformats.org/drawingml/2006/main" noGrp="1"/>
          </p:cNvSpPr>
          <p:nvPr/>
        </p:nvSpPr>
        <p:spPr>
          <a:xfrm xmlns:a="http://schemas.openxmlformats.org/drawingml/2006/main">
            <a:off x="4324350" y="400050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033"/>
                </a:solidFill>
                <a:latin typeface="Arial"/>
                <a:ea typeface="Arial"/>
                <a:cs typeface="Arial"/>
              </a:defRPr>
            </a:pPr>
            <a:r>
              <a:rPr sz="2325" b="0">
                <a:solidFill>
                  <a:srgbClr val="142033"/>
                </a:solidFill>
                <a:latin typeface="Arial"/>
                <a:ea typeface="Arial"/>
                <a:cs typeface="Arial"/>
              </a:rPr>
              <a:t>What risk matters? What benefit stays?</a:t>
            </a:r>
          </a:p>
        </p:txBody>
      </p:sp>
      <p:sp>
        <p:nvSpPr>
          <p:cNvPr id="14" name="">
            <a:extLst xmlns:a="http://schemas.openxmlformats.org/drawingml/2006/main">
              <a:ext uri="{FF2B5EF4-FFF2-40B4-BE49-F238E27FC236}">
                <a16:creationId xmlns:a16="http://schemas.microsoft.com/office/drawing/2014/main" id="{87A016C9-E476-4BAF-88DD-681C8BD18B70}"/>
              </a:ext>
            </a:extLst>
          </p:cNvPr>
          <p:cNvSpPr>
            <a:spLocks xmlns:a="http://schemas.openxmlformats.org/drawingml/2006/main" noGrp="1"/>
          </p:cNvSpPr>
          <p:nvPr/>
        </p:nvSpPr>
        <p:spPr>
          <a:xfrm xmlns:a="http://schemas.openxmlformats.org/drawingml/2006/main">
            <a:off x="609600" y="4886325"/>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294FDB"/>
                </a:solidFill>
                <a:latin typeface="Georgia"/>
                <a:ea typeface="Georgia"/>
                <a:cs typeface="Georgia"/>
              </a:defRPr>
            </a:pPr>
            <a:r>
              <a:rPr sz="3600" b="0">
                <a:solidFill>
                  <a:srgbClr val="294FDB"/>
                </a:solidFill>
                <a:latin typeface="Georgia"/>
                <a:ea typeface="Georgia"/>
                <a:cs typeface="Georgia"/>
              </a:rPr>
              <a:t>4</a:t>
            </a:r>
          </a:p>
        </p:txBody>
      </p:sp>
      <p:sp>
        <p:nvSpPr>
          <p:cNvPr id="15" name="">
            <a:extLst xmlns:a="http://schemas.openxmlformats.org/drawingml/2006/main">
              <a:ext uri="{FF2B5EF4-FFF2-40B4-BE49-F238E27FC236}">
                <a16:creationId xmlns:a16="http://schemas.microsoft.com/office/drawing/2014/main" id="{8C06F83D-77B6-4FD6-8A18-2A216C7754EE}"/>
              </a:ext>
            </a:extLst>
          </p:cNvPr>
          <p:cNvSpPr>
            <a:spLocks xmlns:a="http://schemas.openxmlformats.org/drawingml/2006/main" noGrp="1"/>
          </p:cNvSpPr>
          <p:nvPr/>
        </p:nvSpPr>
        <p:spPr>
          <a:xfrm xmlns:a="http://schemas.openxmlformats.org/drawingml/2006/main">
            <a:off x="1466850" y="492442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033"/>
                </a:solidFill>
                <a:latin typeface="Arial"/>
                <a:ea typeface="Arial"/>
                <a:cs typeface="Arial"/>
              </a:defRPr>
            </a:pPr>
            <a:r>
              <a:rPr sz="2625" b="1">
                <a:solidFill>
                  <a:srgbClr val="142033"/>
                </a:solidFill>
                <a:latin typeface="Arial"/>
                <a:ea typeface="Arial"/>
                <a:cs typeface="Arial"/>
              </a:rPr>
              <a:t>Act</a:t>
            </a:r>
          </a:p>
        </p:txBody>
      </p:sp>
      <p:sp>
        <p:nvSpPr>
          <p:cNvPr id="16" name="">
            <a:extLst xmlns:a="http://schemas.openxmlformats.org/drawingml/2006/main">
              <a:ext uri="{FF2B5EF4-FFF2-40B4-BE49-F238E27FC236}">
                <a16:creationId xmlns:a16="http://schemas.microsoft.com/office/drawing/2014/main" id="{61BD9593-7BDB-4626-83FB-821F1A1CCD31}"/>
              </a:ext>
            </a:extLst>
          </p:cNvPr>
          <p:cNvSpPr>
            <a:spLocks xmlns:a="http://schemas.openxmlformats.org/drawingml/2006/main" noGrp="1"/>
          </p:cNvSpPr>
          <p:nvPr/>
        </p:nvSpPr>
        <p:spPr>
          <a:xfrm xmlns:a="http://schemas.openxmlformats.org/drawingml/2006/main">
            <a:off x="4324350" y="497205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033"/>
                </a:solidFill>
                <a:latin typeface="Arial"/>
                <a:ea typeface="Arial"/>
                <a:cs typeface="Arial"/>
              </a:defRPr>
            </a:pPr>
            <a:r>
              <a:rPr sz="2325" b="0">
                <a:solidFill>
                  <a:srgbClr val="142033"/>
                </a:solidFill>
                <a:latin typeface="Arial"/>
                <a:ea typeface="Arial"/>
                <a:cs typeface="Arial"/>
              </a:rPr>
              <a:t>What will I try, check, and review?</a:t>
            </a:r>
          </a:p>
        </p:txBody>
      </p:sp>
    </p:spTree>
    <p:extLst>
      <p:ext uri="{BB962C8B-B14F-4D97-AF65-F5344CB8AC3E}">
        <p14:creationId xmlns:p14="http://schemas.microsoft.com/office/powerpoint/2010/main" val="1215552672"/>
      </p:ext>
    </p:extLst>
  </p:cSld>
</p:sld>
</file>

<file path=ppt/slides/slide4.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04BC475-66BB-41D0-8801-4E12C23DE8B4}"/>
              </a:ext>
            </a:extLst>
          </p:cNvPr>
          <p:cNvSpPr>
            <a:spLocks xmlns:a="http://schemas.openxmlformats.org/drawingml/2006/main" noGrp="1"/>
          </p:cNvSpPr>
          <p:nvPr/>
        </p:nvSpPr>
        <p:spPr>
          <a:xfrm xmlns:a="http://schemas.openxmlformats.org/drawingml/2006/main">
            <a:off x="609600" y="2667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DIGITAL CITIZEN REFLECTION</a:t>
            </a:r>
          </a:p>
        </p:txBody>
      </p:sp>
      <p:sp>
        <p:nvSpPr>
          <p:cNvPr id="2" name="">
            <a:extLst xmlns:a="http://schemas.openxmlformats.org/drawingml/2006/main">
              <a:ext uri="{FF2B5EF4-FFF2-40B4-BE49-F238E27FC236}">
                <a16:creationId xmlns:a16="http://schemas.microsoft.com/office/drawing/2014/main" id="{DD668DB2-A30B-496A-BD0C-9AC827D8C082}"/>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3:00–4:00</a:t>
            </a:r>
          </a:p>
        </p:txBody>
      </p:sp>
      <p:sp>
        <p:nvSpPr>
          <p:cNvPr id="3" name="">
            <a:extLst xmlns:a="http://schemas.openxmlformats.org/drawingml/2006/main">
              <a:ext uri="{FF2B5EF4-FFF2-40B4-BE49-F238E27FC236}">
                <a16:creationId xmlns:a16="http://schemas.microsoft.com/office/drawing/2014/main" id="{6C676950-CDE0-4BC1-B435-008E31A09146}"/>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Observe: the news-sharing habit</a:t>
            </a:r>
          </a:p>
        </p:txBody>
      </p:sp>
      <p:sp>
        <p:nvSpPr>
          <p:cNvPr id="4" name="">
            <a:extLst xmlns:a="http://schemas.openxmlformats.org/drawingml/2006/main">
              <a:ext uri="{FF2B5EF4-FFF2-40B4-BE49-F238E27FC236}">
                <a16:creationId xmlns:a16="http://schemas.microsoft.com/office/drawing/2014/main" id="{40B53B00-1166-4AF5-92D4-6E9957212202}"/>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C108B950-6FB5-4AAE-AE58-64892D994416}"/>
              </a:ext>
            </a:extLst>
          </p:cNvPr>
          <p:cNvSpPr>
            <a:spLocks xmlns:a="http://schemas.openxmlformats.org/drawingml/2006/main" noGrp="1"/>
          </p:cNvSpPr>
          <p:nvPr/>
        </p:nvSpPr>
        <p:spPr>
          <a:xfrm xmlns:a="http://schemas.openxmlformats.org/drawingml/2006/main">
            <a:off x="609600" y="1819275"/>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FICTIONAL NEWS EXAMPLE</a:t>
            </a:r>
          </a:p>
        </p:txBody>
      </p:sp>
      <p:sp>
        <p:nvSpPr>
          <p:cNvPr id="6" name="">
            <a:extLst xmlns:a="http://schemas.openxmlformats.org/drawingml/2006/main">
              <a:ext uri="{FF2B5EF4-FFF2-40B4-BE49-F238E27FC236}">
                <a16:creationId xmlns:a16="http://schemas.microsoft.com/office/drawing/2014/main" id="{D9354A0A-DCCB-4662-B15F-23ABD90A06BA}"/>
              </a:ext>
            </a:extLst>
          </p:cNvPr>
          <p:cNvSpPr>
            <a:spLocks xmlns:a="http://schemas.openxmlformats.org/drawingml/2006/main" noGrp="1"/>
          </p:cNvSpPr>
          <p:nvPr/>
        </p:nvSpPr>
        <p:spPr>
          <a:xfrm xmlns:a="http://schemas.openxmlformats.org/drawingml/2006/main">
            <a:off x="609600" y="2333625"/>
            <a:ext cx="476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42033"/>
                </a:solidFill>
                <a:latin typeface="Arial"/>
                <a:ea typeface="Arial"/>
                <a:cs typeface="Arial"/>
              </a:defRPr>
            </a:pPr>
            <a:r>
              <a:rPr sz="2700" b="0">
                <a:solidFill>
                  <a:srgbClr val="142033"/>
                </a:solidFill>
                <a:latin typeface="Arial"/>
                <a:ea typeface="Arial"/>
                <a:cs typeface="Arial"/>
              </a:rPr>
              <a:t>A cropped bus-news screenshot has no date or original announcement.</a:t>
            </a:r>
          </a:p>
        </p:txBody>
      </p:sp>
      <p:sp>
        <p:nvSpPr>
          <p:cNvPr id="7" name="">
            <a:extLst xmlns:a="http://schemas.openxmlformats.org/drawingml/2006/main">
              <a:ext uri="{FF2B5EF4-FFF2-40B4-BE49-F238E27FC236}">
                <a16:creationId xmlns:a16="http://schemas.microsoft.com/office/drawing/2014/main" id="{4B26C381-B64B-4C73-81F6-AAE8BACA2D6A}"/>
              </a:ext>
            </a:extLst>
          </p:cNvPr>
          <p:cNvSpPr>
            <a:spLocks xmlns:a="http://schemas.openxmlformats.org/drawingml/2006/main" noGrp="1"/>
          </p:cNvSpPr>
          <p:nvPr/>
        </p:nvSpPr>
        <p:spPr>
          <a:xfrm xmlns:a="http://schemas.openxmlformats.org/drawingml/2006/main">
            <a:off x="609600" y="441007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16174"/>
                </a:solidFill>
                <a:latin typeface="Arial"/>
                <a:ea typeface="Arial"/>
                <a:cs typeface="Arial"/>
              </a:defRPr>
            </a:pPr>
            <a:r>
              <a:rPr sz="2250" b="0">
                <a:solidFill>
                  <a:srgbClr val="516174"/>
                </a:solidFill>
                <a:latin typeface="Arial"/>
                <a:ea typeface="Arial"/>
                <a:cs typeface="Arial"/>
              </a:rPr>
              <a:t>Help me answer offers smaller prompts when requested.</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2db4857c89c43e4"/>
          <a:stretch xmlns:a="http://schemas.openxmlformats.org/drawingml/2006/main"/>
        </p:blipFill>
        <p:spPr>
          <a:xfrm xmlns:a="http://schemas.openxmlformats.org/drawingml/2006/main">
            <a:off x="6021217" y="2114550"/>
            <a:ext cx="5274016" cy="4000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C0B6246-1835-4F36-B18F-34C5B9A659BE}"/>
              </a:ext>
            </a:extLst>
          </p:cNvPr>
          <p:cNvSpPr>
            <a:spLocks xmlns:a="http://schemas.openxmlformats.org/drawingml/2006/main" noGrp="1"/>
          </p:cNvSpPr>
          <p:nvPr/>
        </p:nvSpPr>
        <p:spPr>
          <a:xfrm xmlns:a="http://schemas.openxmlformats.org/drawingml/2006/main">
            <a:off x="5753100" y="6219825"/>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Screenshot backup of the working activity</a:t>
            </a:r>
          </a:p>
        </p:txBody>
      </p:sp>
    </p:spTree>
    <p:extLst>
      <p:ext uri="{BB962C8B-B14F-4D97-AF65-F5344CB8AC3E}">
        <p14:creationId xmlns:p14="http://schemas.microsoft.com/office/powerpoint/2010/main" val="432665306"/>
      </p:ext>
    </p:extLst>
  </p:cSld>
</p:sld>
</file>

<file path=ppt/slides/slide5.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1C7DDD7-52AA-4338-8BA1-63D311F470F5}"/>
              </a:ext>
            </a:extLst>
          </p:cNvPr>
          <p:cNvSpPr>
            <a:spLocks xmlns:a="http://schemas.openxmlformats.org/drawingml/2006/main" noGrp="1"/>
          </p:cNvSpPr>
          <p:nvPr/>
        </p:nvSpPr>
        <p:spPr>
          <a:xfrm xmlns:a="http://schemas.openxmlformats.org/drawingml/2006/main">
            <a:off x="609600" y="2667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DIGITAL CITIZEN REFLECTION</a:t>
            </a:r>
          </a:p>
        </p:txBody>
      </p:sp>
      <p:sp>
        <p:nvSpPr>
          <p:cNvPr id="2" name="">
            <a:extLst xmlns:a="http://schemas.openxmlformats.org/drawingml/2006/main">
              <a:ext uri="{FF2B5EF4-FFF2-40B4-BE49-F238E27FC236}">
                <a16:creationId xmlns:a16="http://schemas.microsoft.com/office/drawing/2014/main" id="{ECADE240-FCCA-4707-9649-9E106E80D871}"/>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4:00–5:00</a:t>
            </a:r>
          </a:p>
        </p:txBody>
      </p:sp>
      <p:sp>
        <p:nvSpPr>
          <p:cNvPr id="3" name="">
            <a:extLst xmlns:a="http://schemas.openxmlformats.org/drawingml/2006/main">
              <a:ext uri="{FF2B5EF4-FFF2-40B4-BE49-F238E27FC236}">
                <a16:creationId xmlns:a16="http://schemas.microsoft.com/office/drawing/2014/main" id="{CF013030-CEE5-4D71-B822-6540FEE3FBCD}"/>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Evaluate: what supports the claim?</a:t>
            </a:r>
          </a:p>
        </p:txBody>
      </p:sp>
      <p:sp>
        <p:nvSpPr>
          <p:cNvPr id="4" name="">
            <a:extLst xmlns:a="http://schemas.openxmlformats.org/drawingml/2006/main">
              <a:ext uri="{FF2B5EF4-FFF2-40B4-BE49-F238E27FC236}">
                <a16:creationId xmlns:a16="http://schemas.microsoft.com/office/drawing/2014/main" id="{04A3DE7B-900A-41DA-A8CE-C9BBFD49A686}"/>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54B526A7-EB15-4F32-AD70-B3396A068738}"/>
              </a:ext>
            </a:extLst>
          </p:cNvPr>
          <p:cNvSpPr>
            <a:spLocks xmlns:a="http://schemas.openxmlformats.org/drawingml/2006/main" noGrp="1"/>
          </p:cNvSpPr>
          <p:nvPr/>
        </p:nvSpPr>
        <p:spPr>
          <a:xfrm xmlns:a="http://schemas.openxmlformats.org/drawingml/2006/main">
            <a:off x="609600" y="1819275"/>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FICTIONAL NEWS EXAMPLE</a:t>
            </a:r>
          </a:p>
        </p:txBody>
      </p:sp>
      <p:sp>
        <p:nvSpPr>
          <p:cNvPr id="6" name="">
            <a:extLst xmlns:a="http://schemas.openxmlformats.org/drawingml/2006/main">
              <a:ext uri="{FF2B5EF4-FFF2-40B4-BE49-F238E27FC236}">
                <a16:creationId xmlns:a16="http://schemas.microsoft.com/office/drawing/2014/main" id="{2FBE356D-A818-48AC-B6D7-0A1E07762DF9}"/>
              </a:ext>
            </a:extLst>
          </p:cNvPr>
          <p:cNvSpPr>
            <a:spLocks xmlns:a="http://schemas.openxmlformats.org/drawingml/2006/main" noGrp="1"/>
          </p:cNvSpPr>
          <p:nvPr/>
        </p:nvSpPr>
        <p:spPr>
          <a:xfrm xmlns:a="http://schemas.openxmlformats.org/drawingml/2006/main">
            <a:off x="609600" y="2362200"/>
            <a:ext cx="4333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033"/>
                </a:solidFill>
                <a:latin typeface="Arial"/>
                <a:ea typeface="Arial"/>
                <a:cs typeface="Arial"/>
              </a:defRPr>
            </a:pPr>
            <a:r>
              <a:rPr sz="2700" b="1">
                <a:solidFill>
                  <a:srgbClr val="142033"/>
                </a:solidFill>
                <a:latin typeface="Arial"/>
                <a:ea typeface="Arial"/>
                <a:cs typeface="Arial"/>
              </a:rPr>
              <a:t>An original source and a date</a:t>
            </a:r>
          </a:p>
        </p:txBody>
      </p:sp>
      <p:sp>
        <p:nvSpPr>
          <p:cNvPr id="7" name="">
            <a:extLst xmlns:a="http://schemas.openxmlformats.org/drawingml/2006/main">
              <a:ext uri="{FF2B5EF4-FFF2-40B4-BE49-F238E27FC236}">
                <a16:creationId xmlns:a16="http://schemas.microsoft.com/office/drawing/2014/main" id="{AC7A46D6-4F48-4B55-B709-0DEA1C6998F9}"/>
              </a:ext>
            </a:extLst>
          </p:cNvPr>
          <p:cNvSpPr>
            <a:spLocks xmlns:a="http://schemas.openxmlformats.org/drawingml/2006/main" noGrp="1"/>
          </p:cNvSpPr>
          <p:nvPr/>
        </p:nvSpPr>
        <p:spPr>
          <a:xfrm xmlns:a="http://schemas.openxmlformats.org/drawingml/2006/main">
            <a:off x="609600" y="3619500"/>
            <a:ext cx="442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033"/>
                </a:solidFill>
                <a:latin typeface="Arial"/>
                <a:ea typeface="Arial"/>
                <a:cs typeface="Arial"/>
              </a:defRPr>
            </a:pPr>
            <a:r>
              <a:rPr sz="2250" b="0">
                <a:solidFill>
                  <a:srgbClr val="142033"/>
                </a:solidFill>
                <a:latin typeface="Arial"/>
                <a:ea typeface="Arial"/>
                <a:cs typeface="Arial"/>
              </a:rPr>
              <a:t>Media literacy guidance helps us look for missing context.</a:t>
            </a:r>
          </a:p>
        </p:txBody>
      </p:sp>
      <p:sp>
        <p:nvSpPr>
          <p:cNvPr id="8" name="">
            <a:extLst xmlns:a="http://schemas.openxmlformats.org/drawingml/2006/main">
              <a:ext uri="{FF2B5EF4-FFF2-40B4-BE49-F238E27FC236}">
                <a16:creationId xmlns:a16="http://schemas.microsoft.com/office/drawing/2014/main" id="{2733D8A1-50EB-43E6-B837-64C87C662D76}"/>
              </a:ext>
            </a:extLst>
          </p:cNvPr>
          <p:cNvSpPr>
            <a:spLocks xmlns:a="http://schemas.openxmlformats.org/drawingml/2006/main" noGrp="1"/>
          </p:cNvSpPr>
          <p:nvPr/>
        </p:nvSpPr>
        <p:spPr>
          <a:xfrm xmlns:a="http://schemas.openxmlformats.org/drawingml/2006/main">
            <a:off x="609600" y="4876800"/>
            <a:ext cx="4476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16174"/>
                </a:solidFill>
                <a:latin typeface="Arial"/>
                <a:ea typeface="Arial"/>
                <a:cs typeface="Arial"/>
              </a:defRPr>
            </a:pPr>
            <a:r>
              <a:rPr sz="2100" b="0">
                <a:solidFill>
                  <a:srgbClr val="516174"/>
                </a:solidFill>
                <a:latin typeface="Arial"/>
                <a:ea typeface="Arial"/>
                <a:cs typeface="Arial"/>
              </a:rPr>
              <a:t>Neither card verifies this fictional bus claim.</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feaf92e42c644b9"/>
          <a:stretch xmlns:a="http://schemas.openxmlformats.org/drawingml/2006/main"/>
        </p:blipFill>
        <p:spPr>
          <a:xfrm xmlns:a="http://schemas.openxmlformats.org/drawingml/2006/main">
            <a:off x="5753100" y="2500406"/>
            <a:ext cx="5810250" cy="2962088"/>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CA7F9BF-9C3F-4B35-80BE-1C63E115152A}"/>
              </a:ext>
            </a:extLst>
          </p:cNvPr>
          <p:cNvSpPr>
            <a:spLocks xmlns:a="http://schemas.openxmlformats.org/drawingml/2006/main" noGrp="1"/>
          </p:cNvSpPr>
          <p:nvPr/>
        </p:nvSpPr>
        <p:spPr>
          <a:xfrm xmlns:a="http://schemas.openxmlformats.org/drawingml/2006/main">
            <a:off x="5753100" y="6219825"/>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Screenshot backup of the working activity</a:t>
            </a:r>
          </a:p>
        </p:txBody>
      </p:sp>
    </p:spTree>
    <p:extLst>
      <p:ext uri="{BB962C8B-B14F-4D97-AF65-F5344CB8AC3E}">
        <p14:creationId xmlns:p14="http://schemas.microsoft.com/office/powerpoint/2010/main" val="852764358"/>
      </p:ext>
    </p:extLst>
  </p:cSld>
</p:sld>
</file>

<file path=ppt/slides/slide6.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CFC6C27-893A-4AF2-B493-86F168E75839}"/>
              </a:ext>
            </a:extLst>
          </p:cNvPr>
          <p:cNvSpPr>
            <a:spLocks xmlns:a="http://schemas.openxmlformats.org/drawingml/2006/main" noGrp="1"/>
          </p:cNvSpPr>
          <p:nvPr/>
        </p:nvSpPr>
        <p:spPr>
          <a:xfrm xmlns:a="http://schemas.openxmlformats.org/drawingml/2006/main">
            <a:off x="609600" y="2667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DIGITAL CITIZEN REFLECTION</a:t>
            </a:r>
          </a:p>
        </p:txBody>
      </p:sp>
      <p:sp>
        <p:nvSpPr>
          <p:cNvPr id="2" name="">
            <a:extLst xmlns:a="http://schemas.openxmlformats.org/drawingml/2006/main">
              <a:ext uri="{FF2B5EF4-FFF2-40B4-BE49-F238E27FC236}">
                <a16:creationId xmlns:a16="http://schemas.microsoft.com/office/drawing/2014/main" id="{C09CA79D-4FBD-44B1-8786-D1EEE839D279}"/>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5:00–6:00</a:t>
            </a:r>
          </a:p>
        </p:txBody>
      </p:sp>
      <p:sp>
        <p:nvSpPr>
          <p:cNvPr id="3" name="">
            <a:extLst xmlns:a="http://schemas.openxmlformats.org/drawingml/2006/main">
              <a:ext uri="{FF2B5EF4-FFF2-40B4-BE49-F238E27FC236}">
                <a16:creationId xmlns:a16="http://schemas.microsoft.com/office/drawing/2014/main" id="{8D2E83C2-0952-4A0C-BEE7-99195D6FD620}"/>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Identify: the risk and the benefit</a:t>
            </a:r>
          </a:p>
        </p:txBody>
      </p:sp>
      <p:sp>
        <p:nvSpPr>
          <p:cNvPr id="4" name="">
            <a:extLst xmlns:a="http://schemas.openxmlformats.org/drawingml/2006/main">
              <a:ext uri="{FF2B5EF4-FFF2-40B4-BE49-F238E27FC236}">
                <a16:creationId xmlns:a16="http://schemas.microsoft.com/office/drawing/2014/main" id="{E5066F5E-02B8-4DB7-9330-6E30C2BDF9B2}"/>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8EA74A95-75DC-4B1A-AE35-849100F569B0}"/>
              </a:ext>
            </a:extLst>
          </p:cNvPr>
          <p:cNvSpPr>
            <a:spLocks xmlns:a="http://schemas.openxmlformats.org/drawingml/2006/main" noGrp="1"/>
          </p:cNvSpPr>
          <p:nvPr/>
        </p:nvSpPr>
        <p:spPr>
          <a:xfrm xmlns:a="http://schemas.openxmlformats.org/drawingml/2006/main">
            <a:off x="609600" y="1819275"/>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FICTIONAL NEWS EXAMPLE</a:t>
            </a:r>
          </a:p>
        </p:txBody>
      </p:sp>
      <p:sp>
        <p:nvSpPr>
          <p:cNvPr id="6" name="">
            <a:extLst xmlns:a="http://schemas.openxmlformats.org/drawingml/2006/main">
              <a:ext uri="{FF2B5EF4-FFF2-40B4-BE49-F238E27FC236}">
                <a16:creationId xmlns:a16="http://schemas.microsoft.com/office/drawing/2014/main" id="{09195128-A609-4BA8-88D3-5E72E3A3DC23}"/>
              </a:ext>
            </a:extLst>
          </p:cNvPr>
          <p:cNvSpPr>
            <a:spLocks xmlns:a="http://schemas.openxmlformats.org/drawingml/2006/main" noGrp="1"/>
          </p:cNvSpPr>
          <p:nvPr/>
        </p:nvSpPr>
        <p:spPr>
          <a:xfrm xmlns:a="http://schemas.openxmlformats.org/drawingml/2006/main">
            <a:off x="609600" y="23336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94FDB"/>
                </a:solidFill>
                <a:latin typeface="Arial"/>
                <a:ea typeface="Arial"/>
                <a:cs typeface="Arial"/>
              </a:defRPr>
            </a:pPr>
            <a:r>
              <a:rPr sz="1875" b="1">
                <a:solidFill>
                  <a:srgbClr val="294FDB"/>
                </a:solidFill>
                <a:latin typeface="Arial"/>
                <a:ea typeface="Arial"/>
                <a:cs typeface="Arial"/>
              </a:rPr>
              <a:t>Risk</a:t>
            </a:r>
          </a:p>
        </p:txBody>
      </p:sp>
      <p:sp>
        <p:nvSpPr>
          <p:cNvPr id="7" name="">
            <a:extLst xmlns:a="http://schemas.openxmlformats.org/drawingml/2006/main">
              <a:ext uri="{FF2B5EF4-FFF2-40B4-BE49-F238E27FC236}">
                <a16:creationId xmlns:a16="http://schemas.microsoft.com/office/drawing/2014/main" id="{20964701-FF01-40FF-9EF9-6DC09B426826}"/>
              </a:ext>
            </a:extLst>
          </p:cNvPr>
          <p:cNvSpPr>
            <a:spLocks xmlns:a="http://schemas.openxmlformats.org/drawingml/2006/main" noGrp="1"/>
          </p:cNvSpPr>
          <p:nvPr/>
        </p:nvSpPr>
        <p:spPr>
          <a:xfrm xmlns:a="http://schemas.openxmlformats.org/drawingml/2006/main">
            <a:off x="609600" y="2857500"/>
            <a:ext cx="4572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42033"/>
                </a:solidFill>
                <a:latin typeface="Arial"/>
                <a:ea typeface="Arial"/>
                <a:cs typeface="Arial"/>
              </a:defRPr>
            </a:pPr>
            <a:r>
              <a:rPr sz="2700" b="0">
                <a:solidFill>
                  <a:srgbClr val="142033"/>
                </a:solidFill>
                <a:latin typeface="Arial"/>
                <a:ea typeface="Arial"/>
                <a:cs typeface="Arial"/>
              </a:rPr>
              <a:t>Sharing a claim without evidence</a:t>
            </a:r>
          </a:p>
        </p:txBody>
      </p:sp>
      <p:sp>
        <p:nvSpPr>
          <p:cNvPr id="8" name="">
            <a:extLst xmlns:a="http://schemas.openxmlformats.org/drawingml/2006/main">
              <a:ext uri="{FF2B5EF4-FFF2-40B4-BE49-F238E27FC236}">
                <a16:creationId xmlns:a16="http://schemas.microsoft.com/office/drawing/2014/main" id="{D4529E7F-E267-4F8B-AE35-C932E97E760D}"/>
              </a:ext>
            </a:extLst>
          </p:cNvPr>
          <p:cNvSpPr>
            <a:spLocks xmlns:a="http://schemas.openxmlformats.org/drawingml/2006/main" noGrp="1"/>
          </p:cNvSpPr>
          <p:nvPr/>
        </p:nvSpPr>
        <p:spPr>
          <a:xfrm xmlns:a="http://schemas.openxmlformats.org/drawingml/2006/main">
            <a:off x="609600" y="41624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94FDB"/>
                </a:solidFill>
                <a:latin typeface="Arial"/>
                <a:ea typeface="Arial"/>
                <a:cs typeface="Arial"/>
              </a:defRPr>
            </a:pPr>
            <a:r>
              <a:rPr sz="1875" b="1">
                <a:solidFill>
                  <a:srgbClr val="294FDB"/>
                </a:solidFill>
                <a:latin typeface="Arial"/>
                <a:ea typeface="Arial"/>
                <a:cs typeface="Arial"/>
              </a:rPr>
              <a:t>Benefit to preserve</a:t>
            </a:r>
          </a:p>
        </p:txBody>
      </p:sp>
      <p:sp>
        <p:nvSpPr>
          <p:cNvPr id="9" name="">
            <a:extLst xmlns:a="http://schemas.openxmlformats.org/drawingml/2006/main">
              <a:ext uri="{FF2B5EF4-FFF2-40B4-BE49-F238E27FC236}">
                <a16:creationId xmlns:a16="http://schemas.microsoft.com/office/drawing/2014/main" id="{FB1CDD38-4361-4BFC-BF6A-F71908A65CD2}"/>
              </a:ext>
            </a:extLst>
          </p:cNvPr>
          <p:cNvSpPr>
            <a:spLocks xmlns:a="http://schemas.openxmlformats.org/drawingml/2006/main" noGrp="1"/>
          </p:cNvSpPr>
          <p:nvPr/>
        </p:nvSpPr>
        <p:spPr>
          <a:xfrm xmlns:a="http://schemas.openxmlformats.org/drawingml/2006/main">
            <a:off x="609600" y="4667250"/>
            <a:ext cx="4572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033"/>
                </a:solidFill>
                <a:latin typeface="Arial"/>
                <a:ea typeface="Arial"/>
                <a:cs typeface="Arial"/>
              </a:defRPr>
            </a:pPr>
            <a:r>
              <a:rPr sz="2400" b="0">
                <a:solidFill>
                  <a:srgbClr val="142033"/>
                </a:solidFill>
                <a:latin typeface="Arial"/>
                <a:ea typeface="Arial"/>
                <a:cs typeface="Arial"/>
              </a:rPr>
              <a:t>Helping friends find useful transport information</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a38f7360b294c98"/>
          <a:stretch xmlns:a="http://schemas.openxmlformats.org/drawingml/2006/main"/>
        </p:blipFill>
        <p:spPr>
          <a:xfrm xmlns:a="http://schemas.openxmlformats.org/drawingml/2006/main">
            <a:off x="5753100" y="2123024"/>
            <a:ext cx="5810250" cy="3716851"/>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FFB21B9-E835-4D5D-ADE6-1B58B8961938}"/>
              </a:ext>
            </a:extLst>
          </p:cNvPr>
          <p:cNvSpPr>
            <a:spLocks xmlns:a="http://schemas.openxmlformats.org/drawingml/2006/main" noGrp="1"/>
          </p:cNvSpPr>
          <p:nvPr/>
        </p:nvSpPr>
        <p:spPr>
          <a:xfrm xmlns:a="http://schemas.openxmlformats.org/drawingml/2006/main">
            <a:off x="5753100" y="6219825"/>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Screenshot backup of the working activity</a:t>
            </a:r>
          </a:p>
        </p:txBody>
      </p:sp>
    </p:spTree>
    <p:extLst>
      <p:ext uri="{BB962C8B-B14F-4D97-AF65-F5344CB8AC3E}">
        <p14:creationId xmlns:p14="http://schemas.microsoft.com/office/powerpoint/2010/main" val="1978386365"/>
      </p:ext>
    </p:extLst>
  </p:cSld>
</p:sld>
</file>

<file path=ppt/slides/slide7.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D15D105-1983-4C78-B229-74485C3AA499}"/>
              </a:ext>
            </a:extLst>
          </p:cNvPr>
          <p:cNvSpPr>
            <a:spLocks xmlns:a="http://schemas.openxmlformats.org/drawingml/2006/main" noGrp="1"/>
          </p:cNvSpPr>
          <p:nvPr/>
        </p:nvSpPr>
        <p:spPr>
          <a:xfrm xmlns:a="http://schemas.openxmlformats.org/drawingml/2006/main">
            <a:off x="609600" y="2667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DIGITAL CITIZEN REFLECTION</a:t>
            </a:r>
          </a:p>
        </p:txBody>
      </p:sp>
      <p:sp>
        <p:nvSpPr>
          <p:cNvPr id="2" name="">
            <a:extLst xmlns:a="http://schemas.openxmlformats.org/drawingml/2006/main">
              <a:ext uri="{FF2B5EF4-FFF2-40B4-BE49-F238E27FC236}">
                <a16:creationId xmlns:a16="http://schemas.microsoft.com/office/drawing/2014/main" id="{367881B8-0591-45F9-B645-81990B4F0687}"/>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6:00–7:00</a:t>
            </a:r>
          </a:p>
        </p:txBody>
      </p:sp>
      <p:sp>
        <p:nvSpPr>
          <p:cNvPr id="3" name="">
            <a:extLst xmlns:a="http://schemas.openxmlformats.org/drawingml/2006/main">
              <a:ext uri="{FF2B5EF4-FFF2-40B4-BE49-F238E27FC236}">
                <a16:creationId xmlns:a16="http://schemas.microsoft.com/office/drawing/2014/main" id="{6F755080-EF1E-4D6E-862A-C6C21BFA0D27}"/>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Act: a change we can check</a:t>
            </a:r>
          </a:p>
        </p:txBody>
      </p:sp>
      <p:sp>
        <p:nvSpPr>
          <p:cNvPr id="4" name="">
            <a:extLst xmlns:a="http://schemas.openxmlformats.org/drawingml/2006/main">
              <a:ext uri="{FF2B5EF4-FFF2-40B4-BE49-F238E27FC236}">
                <a16:creationId xmlns:a16="http://schemas.microsoft.com/office/drawing/2014/main" id="{0C658151-C01C-4238-991B-70EAE59388CA}"/>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390A8E39-A98B-449E-9408-ADC4A39C7149}"/>
              </a:ext>
            </a:extLst>
          </p:cNvPr>
          <p:cNvSpPr>
            <a:spLocks xmlns:a="http://schemas.openxmlformats.org/drawingml/2006/main" noGrp="1"/>
          </p:cNvSpPr>
          <p:nvPr/>
        </p:nvSpPr>
        <p:spPr>
          <a:xfrm xmlns:a="http://schemas.openxmlformats.org/drawingml/2006/main">
            <a:off x="609600" y="1819275"/>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FICTIONAL NEWS EXAMPLE</a:t>
            </a:r>
          </a:p>
        </p:txBody>
      </p:sp>
      <p:sp>
        <p:nvSpPr>
          <p:cNvPr id="6" name="">
            <a:extLst xmlns:a="http://schemas.openxmlformats.org/drawingml/2006/main">
              <a:ext uri="{FF2B5EF4-FFF2-40B4-BE49-F238E27FC236}">
                <a16:creationId xmlns:a16="http://schemas.microsoft.com/office/drawing/2014/main" id="{901E206B-97E5-4FA7-8AAE-D5A13279B0CE}"/>
              </a:ext>
            </a:extLst>
          </p:cNvPr>
          <p:cNvSpPr>
            <a:spLocks xmlns:a="http://schemas.openxmlformats.org/drawingml/2006/main" noGrp="1"/>
          </p:cNvSpPr>
          <p:nvPr/>
        </p:nvSpPr>
        <p:spPr>
          <a:xfrm xmlns:a="http://schemas.openxmlformats.org/drawingml/2006/main">
            <a:off x="609600" y="2305050"/>
            <a:ext cx="4667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033"/>
                </a:solidFill>
                <a:latin typeface="Arial"/>
                <a:ea typeface="Arial"/>
                <a:cs typeface="Arial"/>
              </a:defRPr>
            </a:pPr>
            <a:r>
              <a:rPr sz="2550" b="1">
                <a:solidFill>
                  <a:srgbClr val="142033"/>
                </a:solidFill>
                <a:latin typeface="Arial"/>
                <a:ea typeface="Arial"/>
                <a:cs typeface="Arial"/>
              </a:rPr>
              <a:t>Find a dated transit-agency announcement before forwarding.</a:t>
            </a:r>
          </a:p>
        </p:txBody>
      </p:sp>
      <p:sp>
        <p:nvSpPr>
          <p:cNvPr id="7" name="">
            <a:extLst xmlns:a="http://schemas.openxmlformats.org/drawingml/2006/main">
              <a:ext uri="{FF2B5EF4-FFF2-40B4-BE49-F238E27FC236}">
                <a16:creationId xmlns:a16="http://schemas.microsoft.com/office/drawing/2014/main" id="{B338299B-D4C1-437D-AF10-7CEDC9B63B76}"/>
              </a:ext>
            </a:extLst>
          </p:cNvPr>
          <p:cNvSpPr>
            <a:spLocks xmlns:a="http://schemas.openxmlformats.org/drawingml/2006/main" noGrp="1"/>
          </p:cNvSpPr>
          <p:nvPr/>
        </p:nvSpPr>
        <p:spPr>
          <a:xfrm xmlns:a="http://schemas.openxmlformats.org/drawingml/2006/main">
            <a:off x="609600" y="4048125"/>
            <a:ext cx="4667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033"/>
                </a:solidFill>
                <a:latin typeface="Arial"/>
                <a:ea typeface="Arial"/>
                <a:cs typeface="Arial"/>
              </a:defRPr>
            </a:pPr>
            <a:r>
              <a:rPr sz="2175" b="0">
                <a:solidFill>
                  <a:srgbClr val="142033"/>
                </a:solidFill>
                <a:latin typeface="Arial"/>
                <a:ea typeface="Arial"/>
                <a:cs typeface="Arial"/>
              </a:rPr>
              <a:t>For the next three posts, record whether an original source was available.</a:t>
            </a:r>
          </a:p>
        </p:txBody>
      </p:sp>
      <p:sp>
        <p:nvSpPr>
          <p:cNvPr id="8" name="">
            <a:extLst xmlns:a="http://schemas.openxmlformats.org/drawingml/2006/main">
              <a:ext uri="{FF2B5EF4-FFF2-40B4-BE49-F238E27FC236}">
                <a16:creationId xmlns:a16="http://schemas.microsoft.com/office/drawing/2014/main" id="{35D85EF5-256D-42C8-9593-B3338C10A48A}"/>
              </a:ext>
            </a:extLst>
          </p:cNvPr>
          <p:cNvSpPr>
            <a:spLocks xmlns:a="http://schemas.openxmlformats.org/drawingml/2006/main" noGrp="1"/>
          </p:cNvSpPr>
          <p:nvPr/>
        </p:nvSpPr>
        <p:spPr>
          <a:xfrm xmlns:a="http://schemas.openxmlformats.org/drawingml/2006/main">
            <a:off x="609600" y="57150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94FDB"/>
                </a:solidFill>
                <a:latin typeface="Arial"/>
                <a:ea typeface="Arial"/>
                <a:cs typeface="Arial"/>
              </a:defRPr>
            </a:pPr>
            <a:r>
              <a:rPr sz="2025" b="1">
                <a:solidFill>
                  <a:srgbClr val="294FDB"/>
                </a:solidFill>
                <a:latin typeface="Arial"/>
                <a:ea typeface="Arial"/>
                <a:cs typeface="Arial"/>
              </a:rPr>
              <a:t>Review in seven days.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3aa79a5655143f0"/>
          <a:stretch xmlns:a="http://schemas.openxmlformats.org/drawingml/2006/main"/>
        </p:blipFill>
        <p:spPr>
          <a:xfrm xmlns:a="http://schemas.openxmlformats.org/drawingml/2006/main">
            <a:off x="6257925" y="1781175"/>
            <a:ext cx="4800600" cy="44005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A98C192-1114-4BF8-9432-4F6F7F237BB2}"/>
              </a:ext>
            </a:extLst>
          </p:cNvPr>
          <p:cNvSpPr>
            <a:spLocks xmlns:a="http://schemas.openxmlformats.org/drawingml/2006/main" noGrp="1"/>
          </p:cNvSpPr>
          <p:nvPr/>
        </p:nvSpPr>
        <p:spPr>
          <a:xfrm xmlns:a="http://schemas.openxmlformats.org/drawingml/2006/main">
            <a:off x="5753100" y="6219825"/>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Screenshot backup of the working activity</a:t>
            </a:r>
          </a:p>
        </p:txBody>
      </p:sp>
    </p:spTree>
    <p:extLst>
      <p:ext uri="{BB962C8B-B14F-4D97-AF65-F5344CB8AC3E}">
        <p14:creationId xmlns:p14="http://schemas.microsoft.com/office/powerpoint/2010/main" val="1469391392"/>
      </p:ext>
    </p:extLst>
  </p:cSld>
</p:sld>
</file>

<file path=ppt/slides/slide8.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5332B5-95B9-4C64-983F-04AC5BE4F069}"/>
              </a:ext>
            </a:extLst>
          </p:cNvPr>
          <p:cNvSpPr>
            <a:spLocks xmlns:a="http://schemas.openxmlformats.org/drawingml/2006/main" noGrp="1"/>
          </p:cNvSpPr>
          <p:nvPr/>
        </p:nvSpPr>
        <p:spPr>
          <a:xfrm xmlns:a="http://schemas.openxmlformats.org/drawingml/2006/main">
            <a:off x="609600" y="2667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DIGITAL CITIZEN REFLECTION</a:t>
            </a:r>
          </a:p>
        </p:txBody>
      </p:sp>
      <p:sp>
        <p:nvSpPr>
          <p:cNvPr id="2" name="">
            <a:extLst xmlns:a="http://schemas.openxmlformats.org/drawingml/2006/main">
              <a:ext uri="{FF2B5EF4-FFF2-40B4-BE49-F238E27FC236}">
                <a16:creationId xmlns:a16="http://schemas.microsoft.com/office/drawing/2014/main" id="{EA73DBEC-08FE-4ADB-8F66-A12EB1A768B5}"/>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7:00–9:00</a:t>
            </a:r>
          </a:p>
        </p:txBody>
      </p:sp>
      <p:sp>
        <p:nvSpPr>
          <p:cNvPr id="3" name="">
            <a:extLst xmlns:a="http://schemas.openxmlformats.org/drawingml/2006/main">
              <a:ext uri="{FF2B5EF4-FFF2-40B4-BE49-F238E27FC236}">
                <a16:creationId xmlns:a16="http://schemas.microsoft.com/office/drawing/2014/main" id="{BC3A0083-CEBA-4E51-8AF4-B563BF143D2E}"/>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Your two-minute reflection</a:t>
            </a:r>
          </a:p>
        </p:txBody>
      </p:sp>
      <p:sp>
        <p:nvSpPr>
          <p:cNvPr id="4" name="">
            <a:extLst xmlns:a="http://schemas.openxmlformats.org/drawingml/2006/main">
              <a:ext uri="{FF2B5EF4-FFF2-40B4-BE49-F238E27FC236}">
                <a16:creationId xmlns:a16="http://schemas.microsoft.com/office/drawing/2014/main" id="{E59FF1C2-85B3-4DB7-B22A-170B1A6C2E31}"/>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3D7D4189-2616-4C8C-97A1-F2931D6C16FA}"/>
              </a:ext>
            </a:extLst>
          </p:cNvPr>
          <p:cNvSpPr>
            <a:spLocks xmlns:a="http://schemas.openxmlformats.org/drawingml/2006/main" noGrp="1"/>
          </p:cNvSpPr>
          <p:nvPr/>
        </p:nvSpPr>
        <p:spPr>
          <a:xfrm xmlns:a="http://schemas.openxmlformats.org/drawingml/2006/main">
            <a:off x="609600" y="2000250"/>
            <a:ext cx="752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94FDB"/>
                </a:solidFill>
                <a:latin typeface="Arial"/>
                <a:ea typeface="Arial"/>
                <a:cs typeface="Arial"/>
              </a:defRPr>
            </a:pPr>
            <a:r>
              <a:rPr sz="2700" b="1">
                <a:solidFill>
                  <a:srgbClr val="294FDB"/>
                </a:solidFill>
                <a:latin typeface="Arial"/>
                <a:ea typeface="Arial"/>
                <a:cs typeface="Arial"/>
              </a:rPr>
              <a:t>Choose one habit or a fictional example</a:t>
            </a:r>
          </a:p>
        </p:txBody>
      </p:sp>
      <p:sp>
        <p:nvSpPr>
          <p:cNvPr id="6" name="">
            <a:extLst xmlns:a="http://schemas.openxmlformats.org/drawingml/2006/main">
              <a:ext uri="{FF2B5EF4-FFF2-40B4-BE49-F238E27FC236}">
                <a16:creationId xmlns:a16="http://schemas.microsoft.com/office/drawing/2014/main" id="{5FCE4517-DADD-49C3-BF29-2F4BB3764AFF}"/>
              </a:ext>
            </a:extLst>
          </p:cNvPr>
          <p:cNvSpPr>
            <a:spLocks xmlns:a="http://schemas.openxmlformats.org/drawingml/2006/main" noGrp="1"/>
          </p:cNvSpPr>
          <p:nvPr/>
        </p:nvSpPr>
        <p:spPr>
          <a:xfrm xmlns:a="http://schemas.openxmlformats.org/drawingml/2006/main">
            <a:off x="609600" y="2971800"/>
            <a:ext cx="7239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16174"/>
                </a:solidFill>
                <a:latin typeface="Arial"/>
                <a:ea typeface="Arial"/>
                <a:cs typeface="Arial"/>
              </a:defRPr>
            </a:pPr>
            <a:r>
              <a:rPr sz="2100" b="0">
                <a:solidFill>
                  <a:srgbClr val="516174"/>
                </a:solidFill>
                <a:latin typeface="Arial"/>
                <a:ea typeface="Arial"/>
                <a:cs typeface="Arial"/>
              </a:rPr>
              <a:t>Attention / Social privacy / News / AI tools</a:t>
            </a:r>
          </a:p>
          <a:p xmlns:a="http://schemas.openxmlformats.org/drawingml/2006/main">
            <a:pPr>
              <a:defRPr sz="2100" b="0">
                <a:solidFill>
                  <a:srgbClr val="516174"/>
                </a:solidFill>
                <a:latin typeface="Arial"/>
                <a:ea typeface="Arial"/>
                <a:cs typeface="Arial"/>
              </a:defRPr>
            </a:pPr>
            <a:r>
              <a:rPr sz="2100" b="0">
                <a:solidFill>
                  <a:srgbClr val="516174"/>
                </a:solidFill>
                <a:latin typeface="Arial"/>
                <a:ea typeface="Arial"/>
                <a:cs typeface="Arial"/>
              </a:rPr>
              <a:t>Use the page, paper, or your own notes</a:t>
            </a:r>
          </a:p>
        </p:txBody>
      </p:sp>
      <p:sp>
        <p:nvSpPr>
          <p:cNvPr id="7" name="">
            <a:extLst xmlns:a="http://schemas.openxmlformats.org/drawingml/2006/main">
              <a:ext uri="{FF2B5EF4-FFF2-40B4-BE49-F238E27FC236}">
                <a16:creationId xmlns:a16="http://schemas.microsoft.com/office/drawing/2014/main" id="{6F28C4CA-8006-4580-A0D4-4FE038497C0A}"/>
              </a:ext>
            </a:extLst>
          </p:cNvPr>
          <p:cNvSpPr>
            <a:spLocks xmlns:a="http://schemas.openxmlformats.org/drawingml/2006/main" noGrp="1"/>
          </p:cNvSpPr>
          <p:nvPr/>
        </p:nvSpPr>
        <p:spPr>
          <a:xfrm xmlns:a="http://schemas.openxmlformats.org/drawingml/2006/main">
            <a:off x="609600" y="4552950"/>
            <a:ext cx="7477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42033"/>
                </a:solidFill>
                <a:latin typeface="Arial"/>
                <a:ea typeface="Arial"/>
                <a:cs typeface="Arial"/>
              </a:defRPr>
            </a:pPr>
            <a:r>
              <a:rPr sz="2550" b="0">
                <a:solidFill>
                  <a:srgbClr val="142033"/>
                </a:solidFill>
                <a:latin typeface="Arial"/>
                <a:ea typeface="Arial"/>
                <a:cs typeface="Arial"/>
              </a:rPr>
              <a:t>What risk matters? What benefit stays?</a:t>
            </a:r>
          </a:p>
          <a:p xmlns:a="http://schemas.openxmlformats.org/drawingml/2006/main">
            <a:pPr>
              <a:defRPr sz="2550" b="0">
                <a:solidFill>
                  <a:srgbClr val="142033"/>
                </a:solidFill>
                <a:latin typeface="Arial"/>
                <a:ea typeface="Arial"/>
                <a:cs typeface="Arial"/>
              </a:defRPr>
            </a:pPr>
            <a:r>
              <a:rPr sz="2550" b="0">
                <a:solidFill>
                  <a:srgbClr val="142033"/>
                </a:solidFill>
                <a:latin typeface="Arial"/>
                <a:ea typeface="Arial"/>
                <a:cs typeface="Arial"/>
              </a:rPr>
              <a:t>What change could you try and check?</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d704500bee94ba8"/>
          <a:stretch xmlns:a="http://schemas.openxmlformats.org/drawingml/2006/main"/>
        </p:blipFill>
        <p:spPr>
          <a:xfrm xmlns:a="http://schemas.openxmlformats.org/drawingml/2006/main">
            <a:off x="8810625" y="2686050"/>
            <a:ext cx="2619375" cy="2619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F50190C-808D-4B79-9AE3-03B411ABB4EB}"/>
              </a:ext>
            </a:extLst>
          </p:cNvPr>
          <p:cNvSpPr>
            <a:spLocks xmlns:a="http://schemas.openxmlformats.org/drawingml/2006/main" noGrp="1"/>
          </p:cNvSpPr>
          <p:nvPr/>
        </p:nvSpPr>
        <p:spPr>
          <a:xfrm xmlns:a="http://schemas.openxmlformats.org/drawingml/2006/main">
            <a:off x="8143875" y="552450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4FDB"/>
                </a:solidFill>
                <a:latin typeface="Arial"/>
                <a:ea typeface="Arial"/>
                <a:cs typeface="Arial"/>
              </a:defRPr>
            </a:pPr>
            <a:r>
              <a:rPr sz="1650" b="0">
                <a:solidFill>
                  <a:srgbClr val="294FDB"/>
                </a:solidFill>
                <a:latin typeface="Arial"/>
                <a:ea typeface="Arial"/>
                <a:cs typeface="Arial"/>
              </a:rPr>
              <a:t>mini34.github.io/</a:t>
            </a:r>
          </a:p>
          <a:p xmlns:a="http://schemas.openxmlformats.org/drawingml/2006/main">
            <a:pPr>
              <a:defRPr sz="1650" b="0">
                <a:solidFill>
                  <a:srgbClr val="294FDB"/>
                </a:solidFill>
                <a:latin typeface="Arial"/>
                <a:ea typeface="Arial"/>
                <a:cs typeface="Arial"/>
              </a:defRPr>
            </a:pPr>
            <a:r>
              <a:rPr sz="1650" b="0">
                <a:solidFill>
                  <a:srgbClr val="294FDB"/>
                </a:solidFill>
                <a:latin typeface="Arial"/>
                <a:ea typeface="Arial"/>
                <a:cs typeface="Arial"/>
              </a:rPr>
              <a:t>digital-citizen-reflection/</a:t>
            </a:r>
          </a:p>
        </p:txBody>
      </p:sp>
    </p:spTree>
    <p:extLst>
      <p:ext uri="{BB962C8B-B14F-4D97-AF65-F5344CB8AC3E}">
        <p14:creationId xmlns:p14="http://schemas.microsoft.com/office/powerpoint/2010/main" val="1660468096"/>
      </p:ext>
    </p:extLst>
  </p:cSld>
</p:sld>
</file>

<file path=ppt/slides/slide9.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6E37CE-0377-48B3-BB40-FD4AC43625DC}"/>
              </a:ext>
            </a:extLst>
          </p:cNvPr>
          <p:cNvSpPr>
            <a:spLocks xmlns:a="http://schemas.openxmlformats.org/drawingml/2006/main" noGrp="1"/>
          </p:cNvSpPr>
          <p:nvPr/>
        </p:nvSpPr>
        <p:spPr>
          <a:xfrm xmlns:a="http://schemas.openxmlformats.org/drawingml/2006/main">
            <a:off x="609600" y="2667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DIGITAL CITIZEN REFLECTION</a:t>
            </a:r>
          </a:p>
        </p:txBody>
      </p:sp>
      <p:sp>
        <p:nvSpPr>
          <p:cNvPr id="2" name="">
            <a:extLst xmlns:a="http://schemas.openxmlformats.org/drawingml/2006/main">
              <a:ext uri="{FF2B5EF4-FFF2-40B4-BE49-F238E27FC236}">
                <a16:creationId xmlns:a16="http://schemas.microsoft.com/office/drawing/2014/main" id="{627A3B73-523E-4191-8279-FF41C4E8214F}"/>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9:00–9:25</a:t>
            </a:r>
          </a:p>
        </p:txBody>
      </p:sp>
      <p:sp>
        <p:nvSpPr>
          <p:cNvPr id="3" name="">
            <a:extLst xmlns:a="http://schemas.openxmlformats.org/drawingml/2006/main">
              <a:ext uri="{FF2B5EF4-FFF2-40B4-BE49-F238E27FC236}">
                <a16:creationId xmlns:a16="http://schemas.microsoft.com/office/drawing/2014/main" id="{B2C7725F-97AB-428F-9D2B-E2CE5B6CEA25}"/>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Development lessons</a:t>
            </a:r>
          </a:p>
        </p:txBody>
      </p:sp>
      <p:sp>
        <p:nvSpPr>
          <p:cNvPr id="4" name="">
            <a:extLst xmlns:a="http://schemas.openxmlformats.org/drawingml/2006/main">
              <a:ext uri="{FF2B5EF4-FFF2-40B4-BE49-F238E27FC236}">
                <a16:creationId xmlns:a16="http://schemas.microsoft.com/office/drawing/2014/main" id="{F2DF48A2-BB44-4E2E-BA24-6613BB9D8FD9}"/>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68A8F66C-59ED-416A-ADB9-82A6F740C4F6}"/>
              </a:ext>
            </a:extLst>
          </p:cNvPr>
          <p:cNvSpPr>
            <a:spLocks xmlns:a="http://schemas.openxmlformats.org/drawingml/2006/main" noGrp="1"/>
          </p:cNvSpPr>
          <p:nvPr/>
        </p:nvSpPr>
        <p:spPr>
          <a:xfrm xmlns:a="http://schemas.openxmlformats.org/drawingml/2006/main">
            <a:off x="609600" y="21717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294FDB"/>
                </a:solidFill>
                <a:latin typeface="Arial"/>
                <a:ea typeface="Arial"/>
                <a:cs typeface="Arial"/>
              </a:defRPr>
            </a:pPr>
            <a:r>
              <a:rPr sz="2775" b="0">
                <a:solidFill>
                  <a:srgbClr val="294FDB"/>
                </a:solidFill>
                <a:latin typeface="Arial"/>
                <a:ea typeface="Arial"/>
                <a:cs typeface="Arial"/>
              </a:rPr>
              <a:t>Source limits belong beside findings</a:t>
            </a:r>
          </a:p>
        </p:txBody>
      </p:sp>
      <p:sp>
        <p:nvSpPr>
          <p:cNvPr id="6" name="">
            <a:extLst xmlns:a="http://schemas.openxmlformats.org/drawingml/2006/main">
              <a:ext uri="{FF2B5EF4-FFF2-40B4-BE49-F238E27FC236}">
                <a16:creationId xmlns:a16="http://schemas.microsoft.com/office/drawing/2014/main" id="{035F0381-F29C-4020-9373-0530CCC0599E}"/>
              </a:ext>
            </a:extLst>
          </p:cNvPr>
          <p:cNvSpPr>
            <a:spLocks xmlns:a="http://schemas.openxmlformats.org/drawingml/2006/main" noGrp="1"/>
          </p:cNvSpPr>
          <p:nvPr/>
        </p:nvSpPr>
        <p:spPr>
          <a:xfrm xmlns:a="http://schemas.openxmlformats.org/drawingml/2006/main">
            <a:off x="609600" y="33528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42033"/>
                </a:solidFill>
                <a:latin typeface="Arial"/>
                <a:ea typeface="Arial"/>
                <a:cs typeface="Arial"/>
              </a:defRPr>
            </a:pPr>
            <a:r>
              <a:rPr sz="2775" b="0">
                <a:solidFill>
                  <a:srgbClr val="142033"/>
                </a:solidFill>
                <a:latin typeface="Arial"/>
                <a:ea typeface="Arial"/>
                <a:cs typeface="Arial"/>
              </a:rPr>
              <a:t>Saving private answers needs a choice</a:t>
            </a:r>
          </a:p>
        </p:txBody>
      </p:sp>
      <p:sp>
        <p:nvSpPr>
          <p:cNvPr id="7" name="">
            <a:extLst xmlns:a="http://schemas.openxmlformats.org/drawingml/2006/main">
              <a:ext uri="{FF2B5EF4-FFF2-40B4-BE49-F238E27FC236}">
                <a16:creationId xmlns:a16="http://schemas.microsoft.com/office/drawing/2014/main" id="{32B82960-A4FF-4F3F-BAE8-BDBE895709DD}"/>
              </a:ext>
            </a:extLst>
          </p:cNvPr>
          <p:cNvSpPr>
            <a:spLocks xmlns:a="http://schemas.openxmlformats.org/drawingml/2006/main" noGrp="1"/>
          </p:cNvSpPr>
          <p:nvPr/>
        </p:nvSpPr>
        <p:spPr>
          <a:xfrm xmlns:a="http://schemas.openxmlformats.org/drawingml/2006/main">
            <a:off x="609600" y="45339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42033"/>
                </a:solidFill>
                <a:latin typeface="Arial"/>
                <a:ea typeface="Arial"/>
                <a:cs typeface="Arial"/>
              </a:defRPr>
            </a:pPr>
            <a:r>
              <a:rPr sz="2775" b="0">
                <a:solidFill>
                  <a:srgbClr val="142033"/>
                </a:solidFill>
                <a:latin typeface="Arial"/>
                <a:ea typeface="Arial"/>
                <a:cs typeface="Arial"/>
              </a:rPr>
              <a:t>Prepared prompts keep the participant in control</a:t>
            </a:r>
          </a:p>
        </p:txBody>
      </p:sp>
    </p:spTree>
    <p:extLst>
      <p:ext uri="{BB962C8B-B14F-4D97-AF65-F5344CB8AC3E}">
        <p14:creationId xmlns:p14="http://schemas.microsoft.com/office/powerpoint/2010/main" val="962254871"/>
      </p:ext>
    </p:extLst>
  </p:cSld>
</p:sld>
</file>

<file path=ppt/slides/slide10.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E4FC2ED-477B-419D-9C72-26667680CC63}"/>
              </a:ext>
            </a:extLst>
          </p:cNvPr>
          <p:cNvSpPr>
            <a:spLocks xmlns:a="http://schemas.openxmlformats.org/drawingml/2006/main" noGrp="1"/>
          </p:cNvSpPr>
          <p:nvPr/>
        </p:nvSpPr>
        <p:spPr>
          <a:xfrm xmlns:a="http://schemas.openxmlformats.org/drawingml/2006/main">
            <a:off x="609600" y="2667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94FDB"/>
                </a:solidFill>
                <a:latin typeface="Arial"/>
                <a:ea typeface="Arial"/>
                <a:cs typeface="Arial"/>
              </a:defRPr>
            </a:pPr>
            <a:r>
              <a:rPr sz="1350" b="1">
                <a:solidFill>
                  <a:srgbClr val="294FDB"/>
                </a:solidFill>
                <a:latin typeface="Arial"/>
                <a:ea typeface="Arial"/>
                <a:cs typeface="Arial"/>
              </a:rPr>
              <a:t>DIGITAL CITIZEN REFLECTION</a:t>
            </a:r>
          </a:p>
        </p:txBody>
      </p:sp>
      <p:sp>
        <p:nvSpPr>
          <p:cNvPr id="2" name="">
            <a:extLst xmlns:a="http://schemas.openxmlformats.org/drawingml/2006/main">
              <a:ext uri="{FF2B5EF4-FFF2-40B4-BE49-F238E27FC236}">
                <a16:creationId xmlns:a16="http://schemas.microsoft.com/office/drawing/2014/main" id="{374E8179-D30A-40DE-9607-C8734A755363}"/>
              </a:ext>
            </a:extLst>
          </p:cNvPr>
          <p:cNvSpPr>
            <a:spLocks xmlns:a="http://schemas.openxmlformats.org/drawingml/2006/main" noGrp="1"/>
          </p:cNvSpPr>
          <p:nvPr/>
        </p:nvSpPr>
        <p:spPr>
          <a:xfrm xmlns:a="http://schemas.openxmlformats.org/drawingml/2006/main">
            <a:off x="9334500" y="2667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9:25–10:00</a:t>
            </a:r>
          </a:p>
        </p:txBody>
      </p:sp>
      <p:sp>
        <p:nvSpPr>
          <p:cNvPr id="3" name="">
            <a:extLst xmlns:a="http://schemas.openxmlformats.org/drawingml/2006/main">
              <a:ext uri="{FF2B5EF4-FFF2-40B4-BE49-F238E27FC236}">
                <a16:creationId xmlns:a16="http://schemas.microsoft.com/office/drawing/2014/main" id="{ED97F436-91F8-4A02-B938-7BA86D283456}"/>
              </a:ext>
            </a:extLst>
          </p:cNvPr>
          <p:cNvSpPr>
            <a:spLocks xmlns:a="http://schemas.openxmlformats.org/drawingml/2006/main" noGrp="1"/>
          </p:cNvSpPr>
          <p:nvPr/>
        </p:nvSpPr>
        <p:spPr>
          <a:xfrm xmlns:a="http://schemas.openxmlformats.org/drawingml/2006/main">
            <a:off x="609600" y="838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42033"/>
                </a:solidFill>
                <a:latin typeface="Georgia"/>
                <a:ea typeface="Georgia"/>
                <a:cs typeface="Georgia"/>
              </a:defRPr>
            </a:pPr>
            <a:r>
              <a:rPr sz="3600" b="0">
                <a:solidFill>
                  <a:srgbClr val="142033"/>
                </a:solidFill>
                <a:latin typeface="Georgia"/>
                <a:ea typeface="Georgia"/>
                <a:cs typeface="Georgia"/>
              </a:rPr>
              <a:t>One change, then a review</a:t>
            </a:r>
          </a:p>
        </p:txBody>
      </p:sp>
      <p:sp>
        <p:nvSpPr>
          <p:cNvPr id="4" name="">
            <a:extLst xmlns:a="http://schemas.openxmlformats.org/drawingml/2006/main">
              <a:ext uri="{FF2B5EF4-FFF2-40B4-BE49-F238E27FC236}">
                <a16:creationId xmlns:a16="http://schemas.microsoft.com/office/drawing/2014/main" id="{5E43F40F-2F3C-4A6B-8D61-04230C2229EA}"/>
              </a:ext>
            </a:extLst>
          </p:cNvPr>
          <p:cNvSpPr>
            <a:spLocks xmlns:a="http://schemas.openxmlformats.org/drawingml/2006/main" noGrp="1"/>
          </p:cNvSpPr>
          <p:nvPr/>
        </p:nvSpPr>
        <p:spPr>
          <a:xfrm xmlns:a="http://schemas.openxmlformats.org/drawingml/2006/main">
            <a:off x="10953750" y="63436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174"/>
                </a:solidFill>
                <a:latin typeface="Arial"/>
                <a:ea typeface="Arial"/>
                <a:cs typeface="Arial"/>
              </a:defRPr>
            </a:pPr>
            <a:r>
              <a:rPr sz="1350" b="0">
                <a:solidFill>
                  <a:srgbClr val="516174"/>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6780495C-00E5-4151-B5F7-ABE9FB362FCA}"/>
              </a:ext>
            </a:extLst>
          </p:cNvPr>
          <p:cNvSpPr>
            <a:spLocks xmlns:a="http://schemas.openxmlformats.org/drawingml/2006/main" noGrp="1"/>
          </p:cNvSpPr>
          <p:nvPr/>
        </p:nvSpPr>
        <p:spPr>
          <a:xfrm xmlns:a="http://schemas.openxmlformats.org/drawingml/2006/main">
            <a:off x="609600" y="2190750"/>
            <a:ext cx="7667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0">
                <a:solidFill>
                  <a:srgbClr val="294FDB"/>
                </a:solidFill>
                <a:latin typeface="Georgia"/>
                <a:ea typeface="Georgia"/>
                <a:cs typeface="Georgia"/>
              </a:defRPr>
            </a:pPr>
            <a:r>
              <a:rPr sz="3375" b="0">
                <a:solidFill>
                  <a:srgbClr val="294FDB"/>
                </a:solidFill>
                <a:latin typeface="Georgia"/>
                <a:ea typeface="Georgia"/>
                <a:cs typeface="Georgia"/>
              </a:rPr>
              <a:t>Observe. Evaluate. Identify. Act.</a:t>
            </a:r>
          </a:p>
        </p:txBody>
      </p:sp>
      <p:sp>
        <p:nvSpPr>
          <p:cNvPr id="6" name="">
            <a:extLst xmlns:a="http://schemas.openxmlformats.org/drawingml/2006/main">
              <a:ext uri="{FF2B5EF4-FFF2-40B4-BE49-F238E27FC236}">
                <a16:creationId xmlns:a16="http://schemas.microsoft.com/office/drawing/2014/main" id="{72D0525A-A1B0-47F5-A0F6-EE4DCF74F74A}"/>
              </a:ext>
            </a:extLst>
          </p:cNvPr>
          <p:cNvSpPr>
            <a:spLocks xmlns:a="http://schemas.openxmlformats.org/drawingml/2006/main" noGrp="1"/>
          </p:cNvSpPr>
          <p:nvPr/>
        </p:nvSpPr>
        <p:spPr>
          <a:xfrm xmlns:a="http://schemas.openxmlformats.org/drawingml/2006/main">
            <a:off x="609600" y="3333750"/>
            <a:ext cx="7477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42033"/>
                </a:solidFill>
                <a:latin typeface="Arial"/>
                <a:ea typeface="Arial"/>
                <a:cs typeface="Arial"/>
              </a:defRPr>
            </a:pPr>
            <a:r>
              <a:rPr sz="2850" b="0">
                <a:solidFill>
                  <a:srgbClr val="142033"/>
                </a:solidFill>
                <a:latin typeface="Arial"/>
                <a:ea typeface="Arial"/>
                <a:cs typeface="Arial"/>
              </a:rPr>
              <a:t>Keep the benefit. Try the change.</a:t>
            </a:r>
          </a:p>
          <a:p xmlns:a="http://schemas.openxmlformats.org/drawingml/2006/main">
            <a:pPr>
              <a:defRPr sz="2850" b="0">
                <a:solidFill>
                  <a:srgbClr val="142033"/>
                </a:solidFill>
                <a:latin typeface="Arial"/>
                <a:ea typeface="Arial"/>
                <a:cs typeface="Arial"/>
              </a:defRPr>
            </a:pPr>
            <a:r>
              <a:rPr sz="2850" b="0">
                <a:solidFill>
                  <a:srgbClr val="142033"/>
                </a:solidFill>
                <a:latin typeface="Arial"/>
                <a:ea typeface="Arial"/>
                <a:cs typeface="Arial"/>
              </a:rPr>
              <a:t>Review what actually happened.</a:t>
            </a:r>
          </a:p>
        </p:txBody>
      </p:sp>
      <p:sp>
        <p:nvSpPr>
          <p:cNvPr id="7" name="">
            <a:extLst xmlns:a="http://schemas.openxmlformats.org/drawingml/2006/main">
              <a:ext uri="{FF2B5EF4-FFF2-40B4-BE49-F238E27FC236}">
                <a16:creationId xmlns:a16="http://schemas.microsoft.com/office/drawing/2014/main" id="{173AF3BE-F58B-40EA-8DDA-2DD368BDC203}"/>
              </a:ext>
            </a:extLst>
          </p:cNvPr>
          <p:cNvSpPr>
            <a:spLocks xmlns:a="http://schemas.openxmlformats.org/drawingml/2006/main" noGrp="1"/>
          </p:cNvSpPr>
          <p:nvPr/>
        </p:nvSpPr>
        <p:spPr>
          <a:xfrm xmlns:a="http://schemas.openxmlformats.org/drawingml/2006/main">
            <a:off x="609600" y="5191125"/>
            <a:ext cx="742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033"/>
                </a:solidFill>
                <a:latin typeface="Arial"/>
                <a:ea typeface="Arial"/>
                <a:cs typeface="Arial"/>
              </a:defRPr>
            </a:pPr>
            <a:r>
              <a:rPr sz="2175" b="1">
                <a:solidFill>
                  <a:srgbClr val="142033"/>
                </a:solidFill>
                <a:latin typeface="Arial"/>
                <a:ea typeface="Arial"/>
                <a:cs typeface="Arial"/>
              </a:rPr>
              <a:t>Activity, worksheet, and resources</a:t>
            </a:r>
          </a:p>
        </p:txBody>
      </p:sp>
      <p:sp>
        <p:nvSpPr>
          <p:cNvPr id="8" name="">
            <a:extLst xmlns:a="http://schemas.openxmlformats.org/drawingml/2006/main">
              <a:ext uri="{FF2B5EF4-FFF2-40B4-BE49-F238E27FC236}">
                <a16:creationId xmlns:a16="http://schemas.microsoft.com/office/drawing/2014/main" id="{C9F5ED62-5E26-4911-BBF0-AE23771440B5}"/>
              </a:ext>
            </a:extLst>
          </p:cNvPr>
          <p:cNvSpPr>
            <a:spLocks xmlns:a="http://schemas.openxmlformats.org/drawingml/2006/main" noGrp="1"/>
          </p:cNvSpPr>
          <p:nvPr/>
        </p:nvSpPr>
        <p:spPr>
          <a:xfrm xmlns:a="http://schemas.openxmlformats.org/drawingml/2006/main">
            <a:off x="609600" y="581025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4FDB"/>
                </a:solidFill>
                <a:latin typeface="Arial"/>
                <a:ea typeface="Arial"/>
                <a:cs typeface="Arial"/>
              </a:defRPr>
            </a:pPr>
            <a:r>
              <a:rPr sz="1800" b="0">
                <a:solidFill>
                  <a:srgbClr val="294FDB"/>
                </a:solidFill>
                <a:latin typeface="Arial"/>
                <a:ea typeface="Arial"/>
                <a:cs typeface="Arial"/>
              </a:rPr>
              <a:t>mini34.github.io/digital-citizen-reflection/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14ca347a5c84bca"/>
          <a:stretch xmlns:a="http://schemas.openxmlformats.org/drawingml/2006/main"/>
        </p:blipFill>
        <p:spPr>
          <a:xfrm xmlns:a="http://schemas.openxmlformats.org/drawingml/2006/main">
            <a:off x="8858250" y="2857500"/>
            <a:ext cx="2619375" cy="2619375"/>
          </a:xfrm>
          <a:prstGeom xmlns:a="http://schemas.openxmlformats.org/drawingml/2006/main" prst="rect">
            <a:avLst/>
          </a:prstGeom>
        </p:spPr>
      </p:pic>
    </p:spTree>
    <p:extLst>
      <p:ext uri="{BB962C8B-B14F-4D97-AF65-F5344CB8AC3E}">
        <p14:creationId xmlns:p14="http://schemas.microsoft.com/office/powerpoint/2010/main" val="7368747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2026-10-05T01:24:08.6840000Z</dcterms:created>
  <dcterms:modified xsi:type="dcterms:W3CDTF">2026-10-05T01:24:08.6840000Z</dcterms:modified>
</coreProperties>
</file>